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fr-T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616"/>
    <a:srgbClr val="7F7F7F"/>
    <a:srgbClr val="595959"/>
    <a:srgbClr val="969696"/>
    <a:srgbClr val="AEAEAE"/>
    <a:srgbClr val="C2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CBD36-9BB8-48CE-9947-619BC0A6F366}" type="datetimeFigureOut">
              <a:rPr lang="fr-FR" smtClean="0"/>
              <a:t>27/05/2024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0547C-A865-40F4-A121-B1AFD5BD20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47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C3DD6-F0B1-1ADF-7822-2680FA3335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564" y="2645929"/>
            <a:ext cx="10515600" cy="1325563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Titres</a:t>
            </a:r>
            <a:endParaRPr lang="fr-TG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8BA6D-1FAC-6C8F-9FBE-BF8FF1C1F460}"/>
              </a:ext>
            </a:extLst>
          </p:cNvPr>
          <p:cNvSpPr txBox="1">
            <a:spLocks/>
          </p:cNvSpPr>
          <p:nvPr userDrawn="1"/>
        </p:nvSpPr>
        <p:spPr>
          <a:xfrm>
            <a:off x="422563" y="6356349"/>
            <a:ext cx="3484419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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wearedigijob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CONFIDENTIEL</a:t>
            </a:r>
            <a:endParaRPr lang="fr-TG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7" descr="TECHNOLOGIE PARTICULE BY DIGIJOB">
            <a:extLst>
              <a:ext uri="{FF2B5EF4-FFF2-40B4-BE49-F238E27FC236}">
                <a16:creationId xmlns:a16="http://schemas.microsoft.com/office/drawing/2014/main" id="{802FD084-EAA5-545A-51BB-AFAF66E380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48" y="-120290"/>
            <a:ext cx="9700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6AB10-64F6-58FC-453E-D5DFEF49C619}"/>
              </a:ext>
            </a:extLst>
          </p:cNvPr>
          <p:cNvSpPr/>
          <p:nvPr userDrawn="1"/>
        </p:nvSpPr>
        <p:spPr>
          <a:xfrm>
            <a:off x="-1" y="0"/>
            <a:ext cx="2526891" cy="6858000"/>
          </a:xfrm>
          <a:prstGeom prst="rect">
            <a:avLst/>
          </a:prstGeom>
          <a:gradFill>
            <a:gsLst>
              <a:gs pos="0">
                <a:srgbClr val="FF1616"/>
              </a:gs>
              <a:gs pos="100000">
                <a:srgbClr val="C2545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88943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61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77C10B4-13F6-C77B-5F34-9D2A68B3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476AE3-38A3-B107-0966-7BAE474BB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16A552-054D-AC08-C4C4-622C5892B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F1F8-5550-4822-B94C-D1AD37B41718}" type="slidenum">
              <a:rPr lang="fr-TG" smtClean="0"/>
              <a:t>‹N°›</a:t>
            </a:fld>
            <a:endParaRPr lang="fr-T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F568A-918D-013D-9997-B084A660D2C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FF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046B298-F724-F868-BE49-6749F8D075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312" y="209550"/>
            <a:ext cx="731694" cy="7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5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5" r:id="rId2"/>
    <p:sldLayoutId id="214748364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tags" Target="../tags/tag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10" Type="http://schemas.openxmlformats.org/officeDocument/2006/relationships/image" Target="../media/image8.jpeg"/><Relationship Id="rId4" Type="http://schemas.openxmlformats.org/officeDocument/2006/relationships/tags" Target="../tags/tag10.xml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48D5E-B27C-4D22-FE4D-45C4EDCC1B9A}"/>
              </a:ext>
            </a:extLst>
          </p:cNvPr>
          <p:cNvSpPr/>
          <p:nvPr/>
        </p:nvSpPr>
        <p:spPr>
          <a:xfrm>
            <a:off x="2752670" y="533428"/>
            <a:ext cx="7334676" cy="1008946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Actuellement en parcours Master architecture des logiciels, je totalise 2 ans d’expérience professionnelle marquées essentiellement par des stages, notamment des stages en travaux de développement web avec une aisance de travail en mode agile. Mes connaissances me permettent de prétendre à des expériences en développement et conception d’applications dynamiques.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D38EEE10-F728-705A-1FE3-EA812B6A4131}"/>
              </a:ext>
            </a:extLst>
          </p:cNvPr>
          <p:cNvGrpSpPr/>
          <p:nvPr/>
        </p:nvGrpSpPr>
        <p:grpSpPr>
          <a:xfrm>
            <a:off x="2646409" y="222012"/>
            <a:ext cx="552985" cy="552985"/>
            <a:chOff x="507861" y="2617801"/>
            <a:chExt cx="552985" cy="552985"/>
          </a:xfrm>
        </p:grpSpPr>
        <p:sp>
          <p:nvSpPr>
            <p:cNvPr id="4" name="Oval 116">
              <a:extLst>
                <a:ext uri="{FF2B5EF4-FFF2-40B4-BE49-F238E27FC236}">
                  <a16:creationId xmlns:a16="http://schemas.microsoft.com/office/drawing/2014/main" id="{CEE86CA9-4FCB-B945-130F-B2E418A053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861" y="2617801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580E59AF-45CB-BE9D-0DFE-F9C3DFAAD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21" y="2687195"/>
              <a:ext cx="340465" cy="414197"/>
            </a:xfrm>
            <a:custGeom>
              <a:avLst/>
              <a:gdLst>
                <a:gd name="T0" fmla="*/ 1120 w 2198"/>
                <a:gd name="T1" fmla="*/ 1 h 2678"/>
                <a:gd name="T2" fmla="*/ 1311 w 2198"/>
                <a:gd name="T3" fmla="*/ 32 h 2678"/>
                <a:gd name="T4" fmla="*/ 1482 w 2198"/>
                <a:gd name="T5" fmla="*/ 115 h 2678"/>
                <a:gd name="T6" fmla="*/ 1628 w 2198"/>
                <a:gd name="T7" fmla="*/ 244 h 2678"/>
                <a:gd name="T8" fmla="*/ 1742 w 2198"/>
                <a:gd name="T9" fmla="*/ 409 h 2678"/>
                <a:gd name="T10" fmla="*/ 1817 w 2198"/>
                <a:gd name="T11" fmla="*/ 604 h 2678"/>
                <a:gd name="T12" fmla="*/ 1848 w 2198"/>
                <a:gd name="T13" fmla="*/ 822 h 2678"/>
                <a:gd name="T14" fmla="*/ 1892 w 2198"/>
                <a:gd name="T15" fmla="*/ 885 h 2678"/>
                <a:gd name="T16" fmla="*/ 1898 w 2198"/>
                <a:gd name="T17" fmla="*/ 977 h 2678"/>
                <a:gd name="T18" fmla="*/ 1864 w 2198"/>
                <a:gd name="T19" fmla="*/ 1086 h 2678"/>
                <a:gd name="T20" fmla="*/ 1791 w 2198"/>
                <a:gd name="T21" fmla="*/ 1199 h 2678"/>
                <a:gd name="T22" fmla="*/ 1707 w 2198"/>
                <a:gd name="T23" fmla="*/ 1405 h 2678"/>
                <a:gd name="T24" fmla="*/ 1590 w 2198"/>
                <a:gd name="T25" fmla="*/ 1588 h 2678"/>
                <a:gd name="T26" fmla="*/ 1448 w 2198"/>
                <a:gd name="T27" fmla="*/ 1734 h 2678"/>
                <a:gd name="T28" fmla="*/ 1478 w 2198"/>
                <a:gd name="T29" fmla="*/ 1829 h 2678"/>
                <a:gd name="T30" fmla="*/ 1535 w 2198"/>
                <a:gd name="T31" fmla="*/ 1925 h 2678"/>
                <a:gd name="T32" fmla="*/ 1627 w 2198"/>
                <a:gd name="T33" fmla="*/ 2016 h 2678"/>
                <a:gd name="T34" fmla="*/ 1763 w 2198"/>
                <a:gd name="T35" fmla="*/ 2094 h 2678"/>
                <a:gd name="T36" fmla="*/ 1892 w 2198"/>
                <a:gd name="T37" fmla="*/ 2141 h 2678"/>
                <a:gd name="T38" fmla="*/ 2039 w 2198"/>
                <a:gd name="T39" fmla="*/ 2184 h 2678"/>
                <a:gd name="T40" fmla="*/ 2167 w 2198"/>
                <a:gd name="T41" fmla="*/ 2228 h 2678"/>
                <a:gd name="T42" fmla="*/ 2090 w 2198"/>
                <a:gd name="T43" fmla="*/ 2344 h 2678"/>
                <a:gd name="T44" fmla="*/ 1892 w 2198"/>
                <a:gd name="T45" fmla="*/ 2474 h 2678"/>
                <a:gd name="T46" fmla="*/ 1665 w 2198"/>
                <a:gd name="T47" fmla="*/ 2574 h 2678"/>
                <a:gd name="T48" fmla="*/ 1421 w 2198"/>
                <a:gd name="T49" fmla="*/ 2644 h 2678"/>
                <a:gd name="T50" fmla="*/ 1178 w 2198"/>
                <a:gd name="T51" fmla="*/ 2675 h 2678"/>
                <a:gd name="T52" fmla="*/ 1093 w 2198"/>
                <a:gd name="T53" fmla="*/ 2677 h 2678"/>
                <a:gd name="T54" fmla="*/ 852 w 2198"/>
                <a:gd name="T55" fmla="*/ 2657 h 2678"/>
                <a:gd name="T56" fmla="*/ 610 w 2198"/>
                <a:gd name="T57" fmla="*/ 2600 h 2678"/>
                <a:gd name="T58" fmla="*/ 377 w 2198"/>
                <a:gd name="T59" fmla="*/ 2510 h 2678"/>
                <a:gd name="T60" fmla="*/ 170 w 2198"/>
                <a:gd name="T61" fmla="*/ 2389 h 2678"/>
                <a:gd name="T62" fmla="*/ 0 w 2198"/>
                <a:gd name="T63" fmla="*/ 2242 h 2678"/>
                <a:gd name="T64" fmla="*/ 112 w 2198"/>
                <a:gd name="T65" fmla="*/ 2199 h 2678"/>
                <a:gd name="T66" fmla="*/ 257 w 2198"/>
                <a:gd name="T67" fmla="*/ 2155 h 2678"/>
                <a:gd name="T68" fmla="*/ 396 w 2198"/>
                <a:gd name="T69" fmla="*/ 2110 h 2678"/>
                <a:gd name="T70" fmla="*/ 534 w 2198"/>
                <a:gd name="T71" fmla="*/ 2042 h 2678"/>
                <a:gd name="T72" fmla="*/ 644 w 2198"/>
                <a:gd name="T73" fmla="*/ 1950 h 2678"/>
                <a:gd name="T74" fmla="*/ 711 w 2198"/>
                <a:gd name="T75" fmla="*/ 1850 h 2678"/>
                <a:gd name="T76" fmla="*/ 746 w 2198"/>
                <a:gd name="T77" fmla="*/ 1749 h 2678"/>
                <a:gd name="T78" fmla="*/ 658 w 2198"/>
                <a:gd name="T79" fmla="*/ 1620 h 2678"/>
                <a:gd name="T80" fmla="*/ 538 w 2198"/>
                <a:gd name="T81" fmla="*/ 1446 h 2678"/>
                <a:gd name="T82" fmla="*/ 446 w 2198"/>
                <a:gd name="T83" fmla="*/ 1246 h 2678"/>
                <a:gd name="T84" fmla="*/ 358 w 2198"/>
                <a:gd name="T85" fmla="*/ 1129 h 2678"/>
                <a:gd name="T86" fmla="*/ 307 w 2198"/>
                <a:gd name="T87" fmla="*/ 1013 h 2678"/>
                <a:gd name="T88" fmla="*/ 300 w 2198"/>
                <a:gd name="T89" fmla="*/ 912 h 2678"/>
                <a:gd name="T90" fmla="*/ 333 w 2198"/>
                <a:gd name="T91" fmla="*/ 838 h 2678"/>
                <a:gd name="T92" fmla="*/ 381 w 2198"/>
                <a:gd name="T93" fmla="*/ 731 h 2678"/>
                <a:gd name="T94" fmla="*/ 429 w 2198"/>
                <a:gd name="T95" fmla="*/ 523 h 2678"/>
                <a:gd name="T96" fmla="*/ 520 w 2198"/>
                <a:gd name="T97" fmla="*/ 340 h 2678"/>
                <a:gd name="T98" fmla="*/ 647 w 2198"/>
                <a:gd name="T99" fmla="*/ 190 h 2678"/>
                <a:gd name="T100" fmla="*/ 802 w 2198"/>
                <a:gd name="T101" fmla="*/ 79 h 2678"/>
                <a:gd name="T102" fmla="*/ 979 w 2198"/>
                <a:gd name="T103" fmla="*/ 14 h 2678"/>
                <a:gd name="T104" fmla="*/ 1111 w 2198"/>
                <a:gd name="T105" fmla="*/ 0 h 2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98" h="2678">
                  <a:moveTo>
                    <a:pt x="1111" y="0"/>
                  </a:moveTo>
                  <a:lnTo>
                    <a:pt x="1115" y="1"/>
                  </a:lnTo>
                  <a:lnTo>
                    <a:pt x="1120" y="1"/>
                  </a:lnTo>
                  <a:lnTo>
                    <a:pt x="1186" y="5"/>
                  </a:lnTo>
                  <a:lnTo>
                    <a:pt x="1249" y="16"/>
                  </a:lnTo>
                  <a:lnTo>
                    <a:pt x="1311" y="32"/>
                  </a:lnTo>
                  <a:lnTo>
                    <a:pt x="1371" y="55"/>
                  </a:lnTo>
                  <a:lnTo>
                    <a:pt x="1428" y="82"/>
                  </a:lnTo>
                  <a:lnTo>
                    <a:pt x="1482" y="115"/>
                  </a:lnTo>
                  <a:lnTo>
                    <a:pt x="1534" y="153"/>
                  </a:lnTo>
                  <a:lnTo>
                    <a:pt x="1583" y="197"/>
                  </a:lnTo>
                  <a:lnTo>
                    <a:pt x="1628" y="244"/>
                  </a:lnTo>
                  <a:lnTo>
                    <a:pt x="1670" y="295"/>
                  </a:lnTo>
                  <a:lnTo>
                    <a:pt x="1708" y="350"/>
                  </a:lnTo>
                  <a:lnTo>
                    <a:pt x="1742" y="409"/>
                  </a:lnTo>
                  <a:lnTo>
                    <a:pt x="1772" y="471"/>
                  </a:lnTo>
                  <a:lnTo>
                    <a:pt x="1797" y="536"/>
                  </a:lnTo>
                  <a:lnTo>
                    <a:pt x="1817" y="604"/>
                  </a:lnTo>
                  <a:lnTo>
                    <a:pt x="1832" y="675"/>
                  </a:lnTo>
                  <a:lnTo>
                    <a:pt x="1842" y="747"/>
                  </a:lnTo>
                  <a:lnTo>
                    <a:pt x="1848" y="822"/>
                  </a:lnTo>
                  <a:lnTo>
                    <a:pt x="1866" y="840"/>
                  </a:lnTo>
                  <a:lnTo>
                    <a:pt x="1881" y="861"/>
                  </a:lnTo>
                  <a:lnTo>
                    <a:pt x="1892" y="885"/>
                  </a:lnTo>
                  <a:lnTo>
                    <a:pt x="1898" y="912"/>
                  </a:lnTo>
                  <a:lnTo>
                    <a:pt x="1901" y="942"/>
                  </a:lnTo>
                  <a:lnTo>
                    <a:pt x="1898" y="977"/>
                  </a:lnTo>
                  <a:lnTo>
                    <a:pt x="1891" y="1011"/>
                  </a:lnTo>
                  <a:lnTo>
                    <a:pt x="1879" y="1048"/>
                  </a:lnTo>
                  <a:lnTo>
                    <a:pt x="1864" y="1086"/>
                  </a:lnTo>
                  <a:lnTo>
                    <a:pt x="1843" y="1124"/>
                  </a:lnTo>
                  <a:lnTo>
                    <a:pt x="1819" y="1162"/>
                  </a:lnTo>
                  <a:lnTo>
                    <a:pt x="1791" y="1199"/>
                  </a:lnTo>
                  <a:lnTo>
                    <a:pt x="1766" y="1270"/>
                  </a:lnTo>
                  <a:lnTo>
                    <a:pt x="1738" y="1338"/>
                  </a:lnTo>
                  <a:lnTo>
                    <a:pt x="1707" y="1405"/>
                  </a:lnTo>
                  <a:lnTo>
                    <a:pt x="1671" y="1469"/>
                  </a:lnTo>
                  <a:lnTo>
                    <a:pt x="1632" y="1530"/>
                  </a:lnTo>
                  <a:lnTo>
                    <a:pt x="1590" y="1588"/>
                  </a:lnTo>
                  <a:lnTo>
                    <a:pt x="1546" y="1641"/>
                  </a:lnTo>
                  <a:lnTo>
                    <a:pt x="1498" y="1690"/>
                  </a:lnTo>
                  <a:lnTo>
                    <a:pt x="1448" y="1734"/>
                  </a:lnTo>
                  <a:lnTo>
                    <a:pt x="1455" y="1765"/>
                  </a:lnTo>
                  <a:lnTo>
                    <a:pt x="1465" y="1797"/>
                  </a:lnTo>
                  <a:lnTo>
                    <a:pt x="1478" y="1829"/>
                  </a:lnTo>
                  <a:lnTo>
                    <a:pt x="1493" y="1862"/>
                  </a:lnTo>
                  <a:lnTo>
                    <a:pt x="1512" y="1894"/>
                  </a:lnTo>
                  <a:lnTo>
                    <a:pt x="1535" y="1925"/>
                  </a:lnTo>
                  <a:lnTo>
                    <a:pt x="1561" y="1957"/>
                  </a:lnTo>
                  <a:lnTo>
                    <a:pt x="1592" y="1987"/>
                  </a:lnTo>
                  <a:lnTo>
                    <a:pt x="1627" y="2016"/>
                  </a:lnTo>
                  <a:lnTo>
                    <a:pt x="1667" y="2044"/>
                  </a:lnTo>
                  <a:lnTo>
                    <a:pt x="1712" y="2070"/>
                  </a:lnTo>
                  <a:lnTo>
                    <a:pt x="1763" y="2094"/>
                  </a:lnTo>
                  <a:lnTo>
                    <a:pt x="1802" y="2110"/>
                  </a:lnTo>
                  <a:lnTo>
                    <a:pt x="1845" y="2125"/>
                  </a:lnTo>
                  <a:lnTo>
                    <a:pt x="1892" y="2141"/>
                  </a:lnTo>
                  <a:lnTo>
                    <a:pt x="1941" y="2155"/>
                  </a:lnTo>
                  <a:lnTo>
                    <a:pt x="1990" y="2170"/>
                  </a:lnTo>
                  <a:lnTo>
                    <a:pt x="2039" y="2184"/>
                  </a:lnTo>
                  <a:lnTo>
                    <a:pt x="2086" y="2199"/>
                  </a:lnTo>
                  <a:lnTo>
                    <a:pt x="2129" y="2213"/>
                  </a:lnTo>
                  <a:lnTo>
                    <a:pt x="2167" y="2228"/>
                  </a:lnTo>
                  <a:lnTo>
                    <a:pt x="2198" y="2242"/>
                  </a:lnTo>
                  <a:lnTo>
                    <a:pt x="2147" y="2294"/>
                  </a:lnTo>
                  <a:lnTo>
                    <a:pt x="2090" y="2344"/>
                  </a:lnTo>
                  <a:lnTo>
                    <a:pt x="2028" y="2391"/>
                  </a:lnTo>
                  <a:lnTo>
                    <a:pt x="1961" y="2434"/>
                  </a:lnTo>
                  <a:lnTo>
                    <a:pt x="1892" y="2474"/>
                  </a:lnTo>
                  <a:lnTo>
                    <a:pt x="1818" y="2511"/>
                  </a:lnTo>
                  <a:lnTo>
                    <a:pt x="1743" y="2545"/>
                  </a:lnTo>
                  <a:lnTo>
                    <a:pt x="1665" y="2574"/>
                  </a:lnTo>
                  <a:lnTo>
                    <a:pt x="1585" y="2601"/>
                  </a:lnTo>
                  <a:lnTo>
                    <a:pt x="1504" y="2624"/>
                  </a:lnTo>
                  <a:lnTo>
                    <a:pt x="1421" y="2644"/>
                  </a:lnTo>
                  <a:lnTo>
                    <a:pt x="1340" y="2658"/>
                  </a:lnTo>
                  <a:lnTo>
                    <a:pt x="1259" y="2669"/>
                  </a:lnTo>
                  <a:lnTo>
                    <a:pt x="1178" y="2675"/>
                  </a:lnTo>
                  <a:lnTo>
                    <a:pt x="1099" y="2678"/>
                  </a:lnTo>
                  <a:lnTo>
                    <a:pt x="1098" y="2677"/>
                  </a:lnTo>
                  <a:lnTo>
                    <a:pt x="1093" y="2677"/>
                  </a:lnTo>
                  <a:lnTo>
                    <a:pt x="1014" y="2675"/>
                  </a:lnTo>
                  <a:lnTo>
                    <a:pt x="933" y="2669"/>
                  </a:lnTo>
                  <a:lnTo>
                    <a:pt x="852" y="2657"/>
                  </a:lnTo>
                  <a:lnTo>
                    <a:pt x="771" y="2642"/>
                  </a:lnTo>
                  <a:lnTo>
                    <a:pt x="690" y="2623"/>
                  </a:lnTo>
                  <a:lnTo>
                    <a:pt x="610" y="2600"/>
                  </a:lnTo>
                  <a:lnTo>
                    <a:pt x="530" y="2573"/>
                  </a:lnTo>
                  <a:lnTo>
                    <a:pt x="453" y="2543"/>
                  </a:lnTo>
                  <a:lnTo>
                    <a:pt x="377" y="2510"/>
                  </a:lnTo>
                  <a:lnTo>
                    <a:pt x="305" y="2473"/>
                  </a:lnTo>
                  <a:lnTo>
                    <a:pt x="235" y="2433"/>
                  </a:lnTo>
                  <a:lnTo>
                    <a:pt x="170" y="2389"/>
                  </a:lnTo>
                  <a:lnTo>
                    <a:pt x="108" y="2343"/>
                  </a:lnTo>
                  <a:lnTo>
                    <a:pt x="51" y="2294"/>
                  </a:lnTo>
                  <a:lnTo>
                    <a:pt x="0" y="2242"/>
                  </a:lnTo>
                  <a:lnTo>
                    <a:pt x="31" y="2228"/>
                  </a:lnTo>
                  <a:lnTo>
                    <a:pt x="69" y="2213"/>
                  </a:lnTo>
                  <a:lnTo>
                    <a:pt x="112" y="2199"/>
                  </a:lnTo>
                  <a:lnTo>
                    <a:pt x="159" y="2184"/>
                  </a:lnTo>
                  <a:lnTo>
                    <a:pt x="208" y="2170"/>
                  </a:lnTo>
                  <a:lnTo>
                    <a:pt x="257" y="2155"/>
                  </a:lnTo>
                  <a:lnTo>
                    <a:pt x="306" y="2141"/>
                  </a:lnTo>
                  <a:lnTo>
                    <a:pt x="353" y="2125"/>
                  </a:lnTo>
                  <a:lnTo>
                    <a:pt x="396" y="2110"/>
                  </a:lnTo>
                  <a:lnTo>
                    <a:pt x="435" y="2094"/>
                  </a:lnTo>
                  <a:lnTo>
                    <a:pt x="488" y="2069"/>
                  </a:lnTo>
                  <a:lnTo>
                    <a:pt x="534" y="2042"/>
                  </a:lnTo>
                  <a:lnTo>
                    <a:pt x="575" y="2013"/>
                  </a:lnTo>
                  <a:lnTo>
                    <a:pt x="612" y="1982"/>
                  </a:lnTo>
                  <a:lnTo>
                    <a:pt x="644" y="1950"/>
                  </a:lnTo>
                  <a:lnTo>
                    <a:pt x="670" y="1917"/>
                  </a:lnTo>
                  <a:lnTo>
                    <a:pt x="692" y="1883"/>
                  </a:lnTo>
                  <a:lnTo>
                    <a:pt x="711" y="1850"/>
                  </a:lnTo>
                  <a:lnTo>
                    <a:pt x="726" y="1816"/>
                  </a:lnTo>
                  <a:lnTo>
                    <a:pt x="738" y="1783"/>
                  </a:lnTo>
                  <a:lnTo>
                    <a:pt x="746" y="1749"/>
                  </a:lnTo>
                  <a:lnTo>
                    <a:pt x="753" y="1717"/>
                  </a:lnTo>
                  <a:lnTo>
                    <a:pt x="704" y="1671"/>
                  </a:lnTo>
                  <a:lnTo>
                    <a:pt x="658" y="1620"/>
                  </a:lnTo>
                  <a:lnTo>
                    <a:pt x="614" y="1566"/>
                  </a:lnTo>
                  <a:lnTo>
                    <a:pt x="574" y="1508"/>
                  </a:lnTo>
                  <a:lnTo>
                    <a:pt x="538" y="1446"/>
                  </a:lnTo>
                  <a:lnTo>
                    <a:pt x="503" y="1381"/>
                  </a:lnTo>
                  <a:lnTo>
                    <a:pt x="473" y="1314"/>
                  </a:lnTo>
                  <a:lnTo>
                    <a:pt x="446" y="1246"/>
                  </a:lnTo>
                  <a:lnTo>
                    <a:pt x="413" y="1207"/>
                  </a:lnTo>
                  <a:lnTo>
                    <a:pt x="384" y="1168"/>
                  </a:lnTo>
                  <a:lnTo>
                    <a:pt x="358" y="1129"/>
                  </a:lnTo>
                  <a:lnTo>
                    <a:pt x="336" y="1090"/>
                  </a:lnTo>
                  <a:lnTo>
                    <a:pt x="320" y="1051"/>
                  </a:lnTo>
                  <a:lnTo>
                    <a:pt x="307" y="1013"/>
                  </a:lnTo>
                  <a:lnTo>
                    <a:pt x="300" y="977"/>
                  </a:lnTo>
                  <a:lnTo>
                    <a:pt x="297" y="942"/>
                  </a:lnTo>
                  <a:lnTo>
                    <a:pt x="300" y="912"/>
                  </a:lnTo>
                  <a:lnTo>
                    <a:pt x="307" y="884"/>
                  </a:lnTo>
                  <a:lnTo>
                    <a:pt x="318" y="860"/>
                  </a:lnTo>
                  <a:lnTo>
                    <a:pt x="333" y="838"/>
                  </a:lnTo>
                  <a:lnTo>
                    <a:pt x="353" y="820"/>
                  </a:lnTo>
                  <a:lnTo>
                    <a:pt x="375" y="805"/>
                  </a:lnTo>
                  <a:lnTo>
                    <a:pt x="381" y="731"/>
                  </a:lnTo>
                  <a:lnTo>
                    <a:pt x="393" y="660"/>
                  </a:lnTo>
                  <a:lnTo>
                    <a:pt x="409" y="590"/>
                  </a:lnTo>
                  <a:lnTo>
                    <a:pt x="429" y="523"/>
                  </a:lnTo>
                  <a:lnTo>
                    <a:pt x="455" y="459"/>
                  </a:lnTo>
                  <a:lnTo>
                    <a:pt x="486" y="398"/>
                  </a:lnTo>
                  <a:lnTo>
                    <a:pt x="520" y="340"/>
                  </a:lnTo>
                  <a:lnTo>
                    <a:pt x="559" y="286"/>
                  </a:lnTo>
                  <a:lnTo>
                    <a:pt x="601" y="236"/>
                  </a:lnTo>
                  <a:lnTo>
                    <a:pt x="647" y="190"/>
                  </a:lnTo>
                  <a:lnTo>
                    <a:pt x="695" y="148"/>
                  </a:lnTo>
                  <a:lnTo>
                    <a:pt x="746" y="111"/>
                  </a:lnTo>
                  <a:lnTo>
                    <a:pt x="802" y="79"/>
                  </a:lnTo>
                  <a:lnTo>
                    <a:pt x="859" y="52"/>
                  </a:lnTo>
                  <a:lnTo>
                    <a:pt x="917" y="30"/>
                  </a:lnTo>
                  <a:lnTo>
                    <a:pt x="979" y="14"/>
                  </a:lnTo>
                  <a:lnTo>
                    <a:pt x="1043" y="4"/>
                  </a:lnTo>
                  <a:lnTo>
                    <a:pt x="1108" y="1"/>
                  </a:lnTo>
                  <a:lnTo>
                    <a:pt x="1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95B0C0C-0D0C-453F-4ED9-C64FDA764E91}"/>
              </a:ext>
            </a:extLst>
          </p:cNvPr>
          <p:cNvSpPr/>
          <p:nvPr/>
        </p:nvSpPr>
        <p:spPr>
          <a:xfrm>
            <a:off x="3207353" y="365332"/>
            <a:ext cx="310014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Profil – 2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ans</a:t>
            </a:r>
            <a:r>
              <a:rPr lang="en-US" b="1" kern="0" dirty="0">
                <a:solidFill>
                  <a:srgbClr val="660A21"/>
                </a:solidFill>
                <a:latin typeface="Arial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d’expérience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BAB95-F217-7CA0-4F3E-CC2A98A2BBC6}"/>
              </a:ext>
            </a:extLst>
          </p:cNvPr>
          <p:cNvSpPr/>
          <p:nvPr/>
        </p:nvSpPr>
        <p:spPr>
          <a:xfrm>
            <a:off x="2755145" y="1714760"/>
            <a:ext cx="7341876" cy="49674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68E54-A661-E4F8-F73F-8700FF9651C1}"/>
              </a:ext>
            </a:extLst>
          </p:cNvPr>
          <p:cNvSpPr/>
          <p:nvPr/>
        </p:nvSpPr>
        <p:spPr>
          <a:xfrm>
            <a:off x="5729984" y="3736978"/>
            <a:ext cx="2556000" cy="36894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575E4-23C9-B471-B816-C9BF3F0766B8}"/>
              </a:ext>
            </a:extLst>
          </p:cNvPr>
          <p:cNvSpPr/>
          <p:nvPr/>
        </p:nvSpPr>
        <p:spPr>
          <a:xfrm>
            <a:off x="2881795" y="1850107"/>
            <a:ext cx="7205551" cy="483209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fr-FR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d’application – </a:t>
            </a:r>
            <a:r>
              <a:rPr lang="fr-FR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digi.job</a:t>
            </a: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Lomé 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depuis 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fév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</a:t>
            </a:r>
          </a:p>
          <a:p>
            <a:pPr>
              <a:defRPr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Collecte d’informations et conception de cartographies de processus métiers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 et développement d’applications</a:t>
            </a:r>
          </a:p>
          <a:p>
            <a:pPr lvl="0" algn="just">
              <a:lnSpc>
                <a:spcPts val="1200"/>
              </a:lnSpc>
              <a:spcBef>
                <a:spcPts val="600"/>
              </a:spcBef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Informaticienne – Centre de Formalités des Entreprises, Lomé </a:t>
            </a: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dec 2023 (Stage)</a:t>
            </a: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Résolution rapide et efficace des problèmes techniques rencontrés.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Gestion de base de données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web – E-Business Afrique, Lomé 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mai – juin 2023 (Stage)</a:t>
            </a:r>
          </a:p>
          <a:p>
            <a:pPr>
              <a:defRPr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Création et intégration de bases de données MySQL et SQLite pour des projets web.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Développement de sites web utilisant HTML, CSS, Vue.js,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JavaScript.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de gestion des employés.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web – </a:t>
            </a:r>
            <a:r>
              <a:rPr lang="fr-FR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OrtusTech</a:t>
            </a: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Lomé 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juil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sep 2022 (Stage)</a:t>
            </a:r>
          </a:p>
          <a:p>
            <a:pPr>
              <a:defRPr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indent="-342900" algn="just" fontAlgn="auto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 Narrow" panose="020B0606020202030204" pitchFamily="34" charset="0"/>
              <a:buChar char="-"/>
              <a:tabLst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Utilisation des technologies tels que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tailwinds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UI.</a:t>
            </a:r>
          </a:p>
          <a:p>
            <a:pPr marL="342900" marR="0" indent="-342900" algn="just" fontAlgn="auto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 Narrow" panose="020B0606020202030204" pitchFamily="34" charset="0"/>
              <a:buChar char="-"/>
              <a:tabLst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Formatrice en Microsoft office.</a:t>
            </a:r>
          </a:p>
          <a:p>
            <a:pPr marL="342900" marR="0" indent="-342900" algn="just" fontAlgn="auto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 Narrow" panose="020B0606020202030204" pitchFamily="34" charset="0"/>
              <a:buChar char="-"/>
              <a:tabLst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Création d'une site web avec React.js et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Firebase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(https://ortus-tech.web.app).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C961C-59E1-9C91-143E-6FA81D4E3810}"/>
              </a:ext>
            </a:extLst>
          </p:cNvPr>
          <p:cNvSpPr/>
          <p:nvPr/>
        </p:nvSpPr>
        <p:spPr>
          <a:xfrm>
            <a:off x="10496725" y="1375362"/>
            <a:ext cx="151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1" i="0" u="none" strike="noStrike" kern="0" cap="none" spc="0" normalizeH="0" baseline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Références</a:t>
            </a:r>
            <a:endParaRPr kumimoji="0" lang="fr-CA" sz="1800" b="0" i="0" u="none" strike="noStrike" kern="1200" cap="none" spc="0" normalizeH="0" baseline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49EA2C1D-D474-3DA3-8593-195D7D642DD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65085" y="1502093"/>
            <a:ext cx="552985" cy="552985"/>
            <a:chOff x="5890641" y="1631738"/>
            <a:chExt cx="552985" cy="552985"/>
          </a:xfrm>
        </p:grpSpPr>
        <p:sp>
          <p:nvSpPr>
            <p:cNvPr id="16" name="Oval 112">
              <a:extLst>
                <a:ext uri="{FF2B5EF4-FFF2-40B4-BE49-F238E27FC236}">
                  <a16:creationId xmlns:a16="http://schemas.microsoft.com/office/drawing/2014/main" id="{A2313757-0531-3651-BB10-D3FF894A5C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Freeform 81">
              <a:extLst>
                <a:ext uri="{FF2B5EF4-FFF2-40B4-BE49-F238E27FC236}">
                  <a16:creationId xmlns:a16="http://schemas.microsoft.com/office/drawing/2014/main" id="{0D08631C-FB73-646E-E4F5-B19660750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43F72-D795-612E-56C6-1B5CE5A96283}"/>
              </a:ext>
            </a:extLst>
          </p:cNvPr>
          <p:cNvSpPr/>
          <p:nvPr/>
        </p:nvSpPr>
        <p:spPr>
          <a:xfrm>
            <a:off x="3218068" y="1502093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Expériences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6" name="Straight Connector 162">
            <a:extLst>
              <a:ext uri="{FF2B5EF4-FFF2-40B4-BE49-F238E27FC236}">
                <a16:creationId xmlns:a16="http://schemas.microsoft.com/office/drawing/2014/main" id="{EEE1D5D8-5720-83F6-C6E5-94E342E6B42C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195533" y="720402"/>
            <a:ext cx="206505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E4F343F-E3D9-E509-872D-4850BCE8028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111" y="818809"/>
            <a:ext cx="2398550" cy="445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Développeuse d’application</a:t>
            </a:r>
            <a:endParaRPr kumimoji="0" lang="fr-FR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5D498A-E27A-6253-8403-D3F2FD0EC87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3746" y="1796930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Technologies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3A28AAB-B571-33AD-D5FE-476550328F4A}"/>
              </a:ext>
            </a:extLst>
          </p:cNvPr>
          <p:cNvSpPr txBox="1"/>
          <p:nvPr/>
        </p:nvSpPr>
        <p:spPr>
          <a:xfrm>
            <a:off x="-18090" y="2263898"/>
            <a:ext cx="2510751" cy="99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VueJS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(Javascript)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(PHP)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fr-F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1C70C1-9613-8D45-C06D-95FB35B8C78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62870" y="258914"/>
            <a:ext cx="2709278" cy="3821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kern="0" dirty="0">
                <a:solidFill>
                  <a:prstClr val="whit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ANADI</a:t>
            </a:r>
            <a:endParaRPr kumimoji="0" lang="fr-FR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4C62FE-BAC5-2FF8-9F7A-C0B0F0E5A30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-3746" y="3401790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Compétences techniques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31AFACA-408C-ABC9-54F8-198D2AFBEBF1}"/>
              </a:ext>
            </a:extLst>
          </p:cNvPr>
          <p:cNvSpPr txBox="1"/>
          <p:nvPr/>
        </p:nvSpPr>
        <p:spPr>
          <a:xfrm>
            <a:off x="-18090" y="3868758"/>
            <a:ext cx="2510751" cy="226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 et linux.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SQL, </a:t>
            </a: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Firebase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Connaissance en Android studio et flutter.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Connaissance en système d'information géographique 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du logiciel ArcGIS, </a:t>
            </a: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géorefencement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BD spatiales.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5EC44A1-FA7C-6545-AA0B-CFBFC56715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2430" y="5399447"/>
            <a:ext cx="1020146" cy="948376"/>
          </a:xfrm>
          <a:prstGeom prst="rect">
            <a:avLst/>
          </a:prstGeom>
        </p:spPr>
      </p:pic>
      <p:pic>
        <p:nvPicPr>
          <p:cNvPr id="21" name="Image 20" descr="Une image contenant Graphique, logo, Police, clipart&#10;&#10;Description générée automatiquement">
            <a:extLst>
              <a:ext uri="{FF2B5EF4-FFF2-40B4-BE49-F238E27FC236}">
                <a16:creationId xmlns:a16="http://schemas.microsoft.com/office/drawing/2014/main" id="{4488C58F-25FB-665B-DBF6-9246CC1B57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430" y="2874159"/>
            <a:ext cx="958440" cy="91156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421FCDE-29D9-2AC8-CAE2-CF0EDCBE8D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9023" y="4238222"/>
            <a:ext cx="1386960" cy="70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0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8BFC11E-C146-393D-58F0-EB41D1061B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89829" y="5601646"/>
            <a:ext cx="7341876" cy="552986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00050" lvl="0" indent="-173038">
              <a:buFont typeface="Arial" panose="020B0604020202020204" pitchFamily="34" charset="0"/>
              <a:buChar char="•"/>
              <a:defRPr/>
            </a:pPr>
            <a:endParaRPr lang="fr-CA" sz="500" kern="0" dirty="0">
              <a:solidFill>
                <a:srgbClr val="FFFFFF">
                  <a:lumMod val="50000"/>
                </a:srgbClr>
              </a:solidFill>
            </a:endParaRPr>
          </a:p>
          <a:p>
            <a:pPr marL="400050" indent="-173038">
              <a:buFont typeface="Arial" panose="020B0604020202020204" pitchFamily="34" charset="0"/>
              <a:buChar char="•"/>
              <a:defRPr/>
            </a:pPr>
            <a:r>
              <a:rPr lang="en-US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 </a:t>
            </a:r>
            <a:r>
              <a:rPr lang="fr-FR" sz="1100" dirty="0">
                <a:solidFill>
                  <a:srgbClr val="7F7F7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|</a:t>
            </a:r>
            <a:r>
              <a:rPr lang="en-US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Master, Architecture des logiciels – ESGIS, Lomé (en cours)</a:t>
            </a:r>
          </a:p>
          <a:p>
            <a:pPr marL="400050" indent="-173038">
              <a:buFont typeface="Arial" panose="020B0604020202020204" pitchFamily="34" charset="0"/>
              <a:buChar char="•"/>
              <a:defRPr/>
            </a:pPr>
            <a:r>
              <a:rPr lang="en-US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 </a:t>
            </a:r>
            <a:r>
              <a:rPr lang="fr-FR" sz="1100" dirty="0">
                <a:solidFill>
                  <a:srgbClr val="7F7F7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|</a:t>
            </a:r>
            <a:r>
              <a:rPr lang="en-US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Licence, Informatique Réseaux Télécoms – ESGIS, Lomé</a:t>
            </a:r>
          </a:p>
          <a:p>
            <a:pPr marL="400050" indent="-173038">
              <a:buFont typeface="Arial" panose="020B0604020202020204" pitchFamily="34" charset="0"/>
              <a:buChar char="•"/>
              <a:defRPr/>
            </a:pPr>
            <a:endParaRPr lang="fr-FR" sz="115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880B0-C3A7-3E7C-BCD6-2DC85CBBC8C2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83441" y="5372853"/>
            <a:ext cx="1294935" cy="86743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endParaRPr lang="en-GB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5E3451-AED4-09A0-8A8A-4FB8DED9F73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21384" y="5291790"/>
            <a:ext cx="3360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Education  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15A871F1-6076-1B46-594D-147F0CAF0E6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669638" y="5183103"/>
            <a:ext cx="552985" cy="552985"/>
            <a:chOff x="11915507" y="641751"/>
            <a:chExt cx="552985" cy="552985"/>
          </a:xfrm>
        </p:grpSpPr>
        <p:sp>
          <p:nvSpPr>
            <p:cNvPr id="24" name="Oval 6">
              <a:extLst>
                <a:ext uri="{FF2B5EF4-FFF2-40B4-BE49-F238E27FC236}">
                  <a16:creationId xmlns:a16="http://schemas.microsoft.com/office/drawing/2014/main" id="{31F76279-990F-946F-F5CF-440206D05D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15507" y="641751"/>
              <a:ext cx="552985" cy="5529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Group 5">
              <a:extLst>
                <a:ext uri="{FF2B5EF4-FFF2-40B4-BE49-F238E27FC236}">
                  <a16:creationId xmlns:a16="http://schemas.microsoft.com/office/drawing/2014/main" id="{5A49C96D-08A7-D685-97F6-697F7AF25506}"/>
                </a:ext>
              </a:extLst>
            </p:cNvPr>
            <p:cNvGrpSpPr/>
            <p:nvPr/>
          </p:nvGrpSpPr>
          <p:grpSpPr>
            <a:xfrm>
              <a:off x="12019598" y="762648"/>
              <a:ext cx="344803" cy="311190"/>
              <a:chOff x="5994732" y="201531"/>
              <a:chExt cx="344803" cy="311190"/>
            </a:xfrm>
            <a:solidFill>
              <a:schemeClr val="bg1"/>
            </a:solidFill>
          </p:grpSpPr>
          <p:sp>
            <p:nvSpPr>
              <p:cNvPr id="26" name="Rectangle 95">
                <a:extLst>
                  <a:ext uri="{FF2B5EF4-FFF2-40B4-BE49-F238E27FC236}">
                    <a16:creationId xmlns:a16="http://schemas.microsoft.com/office/drawing/2014/main" id="{541CB93E-D852-1948-39B5-833020041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2" name="Freeform 96">
                <a:extLst>
                  <a:ext uri="{FF2B5EF4-FFF2-40B4-BE49-F238E27FC236}">
                    <a16:creationId xmlns:a16="http://schemas.microsoft.com/office/drawing/2014/main" id="{7DB34CFB-8DCD-1821-EC88-908CF9E35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3763" y="201531"/>
                <a:ext cx="86743" cy="26023"/>
              </a:xfrm>
              <a:custGeom>
                <a:avLst/>
                <a:gdLst>
                  <a:gd name="T0" fmla="*/ 111 w 558"/>
                  <a:gd name="T1" fmla="*/ 0 h 168"/>
                  <a:gd name="T2" fmla="*/ 447 w 558"/>
                  <a:gd name="T3" fmla="*/ 0 h 168"/>
                  <a:gd name="T4" fmla="*/ 472 w 558"/>
                  <a:gd name="T5" fmla="*/ 3 h 168"/>
                  <a:gd name="T6" fmla="*/ 495 w 558"/>
                  <a:gd name="T7" fmla="*/ 12 h 168"/>
                  <a:gd name="T8" fmla="*/ 516 w 558"/>
                  <a:gd name="T9" fmla="*/ 25 h 168"/>
                  <a:gd name="T10" fmla="*/ 533 w 558"/>
                  <a:gd name="T11" fmla="*/ 42 h 168"/>
                  <a:gd name="T12" fmla="*/ 546 w 558"/>
                  <a:gd name="T13" fmla="*/ 63 h 168"/>
                  <a:gd name="T14" fmla="*/ 555 w 558"/>
                  <a:gd name="T15" fmla="*/ 86 h 168"/>
                  <a:gd name="T16" fmla="*/ 558 w 558"/>
                  <a:gd name="T17" fmla="*/ 111 h 168"/>
                  <a:gd name="T18" fmla="*/ 558 w 558"/>
                  <a:gd name="T19" fmla="*/ 168 h 168"/>
                  <a:gd name="T20" fmla="*/ 0 w 558"/>
                  <a:gd name="T21" fmla="*/ 168 h 168"/>
                  <a:gd name="T22" fmla="*/ 0 w 558"/>
                  <a:gd name="T23" fmla="*/ 111 h 168"/>
                  <a:gd name="T24" fmla="*/ 3 w 558"/>
                  <a:gd name="T25" fmla="*/ 86 h 168"/>
                  <a:gd name="T26" fmla="*/ 12 w 558"/>
                  <a:gd name="T27" fmla="*/ 63 h 168"/>
                  <a:gd name="T28" fmla="*/ 25 w 558"/>
                  <a:gd name="T29" fmla="*/ 42 h 168"/>
                  <a:gd name="T30" fmla="*/ 42 w 558"/>
                  <a:gd name="T31" fmla="*/ 25 h 168"/>
                  <a:gd name="T32" fmla="*/ 63 w 558"/>
                  <a:gd name="T33" fmla="*/ 12 h 168"/>
                  <a:gd name="T34" fmla="*/ 86 w 558"/>
                  <a:gd name="T35" fmla="*/ 3 h 168"/>
                  <a:gd name="T36" fmla="*/ 111 w 558"/>
                  <a:gd name="T3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8" h="168">
                    <a:moveTo>
                      <a:pt x="111" y="0"/>
                    </a:moveTo>
                    <a:lnTo>
                      <a:pt x="447" y="0"/>
                    </a:lnTo>
                    <a:lnTo>
                      <a:pt x="472" y="3"/>
                    </a:lnTo>
                    <a:lnTo>
                      <a:pt x="495" y="12"/>
                    </a:lnTo>
                    <a:lnTo>
                      <a:pt x="516" y="25"/>
                    </a:lnTo>
                    <a:lnTo>
                      <a:pt x="533" y="42"/>
                    </a:lnTo>
                    <a:lnTo>
                      <a:pt x="546" y="63"/>
                    </a:lnTo>
                    <a:lnTo>
                      <a:pt x="555" y="86"/>
                    </a:lnTo>
                    <a:lnTo>
                      <a:pt x="558" y="111"/>
                    </a:lnTo>
                    <a:lnTo>
                      <a:pt x="558" y="168"/>
                    </a:lnTo>
                    <a:lnTo>
                      <a:pt x="0" y="168"/>
                    </a:lnTo>
                    <a:lnTo>
                      <a:pt x="0" y="111"/>
                    </a:lnTo>
                    <a:lnTo>
                      <a:pt x="3" y="86"/>
                    </a:lnTo>
                    <a:lnTo>
                      <a:pt x="12" y="63"/>
                    </a:lnTo>
                    <a:lnTo>
                      <a:pt x="25" y="42"/>
                    </a:lnTo>
                    <a:lnTo>
                      <a:pt x="42" y="25"/>
                    </a:lnTo>
                    <a:lnTo>
                      <a:pt x="63" y="12"/>
                    </a:lnTo>
                    <a:lnTo>
                      <a:pt x="86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9" name="Rectangle 97">
                <a:extLst>
                  <a:ext uri="{FF2B5EF4-FFF2-40B4-BE49-F238E27FC236}">
                    <a16:creationId xmlns:a16="http://schemas.microsoft.com/office/drawing/2014/main" id="{798ED7A8-6B9F-0915-F7E1-730211D5B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252493"/>
                <a:ext cx="86743" cy="15613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Freeform 98">
                <a:extLst>
                  <a:ext uri="{FF2B5EF4-FFF2-40B4-BE49-F238E27FC236}">
                    <a16:creationId xmlns:a16="http://schemas.microsoft.com/office/drawing/2014/main" id="{0E282DB6-C244-59BF-6733-20E8FE222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7854" y="236229"/>
                <a:ext cx="68310" cy="24939"/>
              </a:xfrm>
              <a:custGeom>
                <a:avLst/>
                <a:gdLst>
                  <a:gd name="T0" fmla="*/ 111 w 445"/>
                  <a:gd name="T1" fmla="*/ 0 h 166"/>
                  <a:gd name="T2" fmla="*/ 334 w 445"/>
                  <a:gd name="T3" fmla="*/ 0 h 166"/>
                  <a:gd name="T4" fmla="*/ 360 w 445"/>
                  <a:gd name="T5" fmla="*/ 2 h 166"/>
                  <a:gd name="T6" fmla="*/ 384 w 445"/>
                  <a:gd name="T7" fmla="*/ 11 h 166"/>
                  <a:gd name="T8" fmla="*/ 404 w 445"/>
                  <a:gd name="T9" fmla="*/ 24 h 166"/>
                  <a:gd name="T10" fmla="*/ 421 w 445"/>
                  <a:gd name="T11" fmla="*/ 41 h 166"/>
                  <a:gd name="T12" fmla="*/ 434 w 445"/>
                  <a:gd name="T13" fmla="*/ 61 h 166"/>
                  <a:gd name="T14" fmla="*/ 443 w 445"/>
                  <a:gd name="T15" fmla="*/ 85 h 166"/>
                  <a:gd name="T16" fmla="*/ 445 w 445"/>
                  <a:gd name="T17" fmla="*/ 111 h 166"/>
                  <a:gd name="T18" fmla="*/ 445 w 445"/>
                  <a:gd name="T19" fmla="*/ 166 h 166"/>
                  <a:gd name="T20" fmla="*/ 0 w 445"/>
                  <a:gd name="T21" fmla="*/ 166 h 166"/>
                  <a:gd name="T22" fmla="*/ 0 w 445"/>
                  <a:gd name="T23" fmla="*/ 111 h 166"/>
                  <a:gd name="T24" fmla="*/ 3 w 445"/>
                  <a:gd name="T25" fmla="*/ 85 h 166"/>
                  <a:gd name="T26" fmla="*/ 10 w 445"/>
                  <a:gd name="T27" fmla="*/ 61 h 166"/>
                  <a:gd name="T28" fmla="*/ 24 w 445"/>
                  <a:gd name="T29" fmla="*/ 41 h 166"/>
                  <a:gd name="T30" fmla="*/ 42 w 445"/>
                  <a:gd name="T31" fmla="*/ 24 h 166"/>
                  <a:gd name="T32" fmla="*/ 62 w 445"/>
                  <a:gd name="T33" fmla="*/ 11 h 166"/>
                  <a:gd name="T34" fmla="*/ 85 w 445"/>
                  <a:gd name="T35" fmla="*/ 2 h 166"/>
                  <a:gd name="T36" fmla="*/ 111 w 445"/>
                  <a:gd name="T37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6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2"/>
                    </a:lnTo>
                    <a:lnTo>
                      <a:pt x="384" y="11"/>
                    </a:lnTo>
                    <a:lnTo>
                      <a:pt x="404" y="24"/>
                    </a:lnTo>
                    <a:lnTo>
                      <a:pt x="421" y="41"/>
                    </a:lnTo>
                    <a:lnTo>
                      <a:pt x="434" y="61"/>
                    </a:lnTo>
                    <a:lnTo>
                      <a:pt x="443" y="85"/>
                    </a:lnTo>
                    <a:lnTo>
                      <a:pt x="445" y="111"/>
                    </a:lnTo>
                    <a:lnTo>
                      <a:pt x="445" y="166"/>
                    </a:lnTo>
                    <a:lnTo>
                      <a:pt x="0" y="166"/>
                    </a:lnTo>
                    <a:lnTo>
                      <a:pt x="0" y="111"/>
                    </a:lnTo>
                    <a:lnTo>
                      <a:pt x="3" y="85"/>
                    </a:lnTo>
                    <a:lnTo>
                      <a:pt x="10" y="61"/>
                    </a:lnTo>
                    <a:lnTo>
                      <a:pt x="24" y="41"/>
                    </a:lnTo>
                    <a:lnTo>
                      <a:pt x="42" y="24"/>
                    </a:lnTo>
                    <a:lnTo>
                      <a:pt x="62" y="11"/>
                    </a:lnTo>
                    <a:lnTo>
                      <a:pt x="85" y="2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Rectangle 99">
                <a:extLst>
                  <a:ext uri="{FF2B5EF4-FFF2-40B4-BE49-F238E27FC236}">
                    <a16:creationId xmlns:a16="http://schemas.microsoft.com/office/drawing/2014/main" id="{BC9F6E88-605B-149F-A538-5972DE8D3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287190"/>
                <a:ext cx="68310" cy="12144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Rectangle 100">
                <a:extLst>
                  <a:ext uri="{FF2B5EF4-FFF2-40B4-BE49-F238E27FC236}">
                    <a16:creationId xmlns:a16="http://schemas.microsoft.com/office/drawing/2014/main" id="{3AD70BEC-0F0F-5FD4-736D-40F78B5DF0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434653"/>
                <a:ext cx="86743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Freeform 101">
                <a:extLst>
                  <a:ext uri="{FF2B5EF4-FFF2-40B4-BE49-F238E27FC236}">
                    <a16:creationId xmlns:a16="http://schemas.microsoft.com/office/drawing/2014/main" id="{CC7ADE88-795E-0F40-5773-1E56F5EDC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8104" y="269841"/>
                <a:ext cx="68310" cy="26023"/>
              </a:xfrm>
              <a:custGeom>
                <a:avLst/>
                <a:gdLst>
                  <a:gd name="T0" fmla="*/ 111 w 445"/>
                  <a:gd name="T1" fmla="*/ 0 h 167"/>
                  <a:gd name="T2" fmla="*/ 334 w 445"/>
                  <a:gd name="T3" fmla="*/ 0 h 167"/>
                  <a:gd name="T4" fmla="*/ 360 w 445"/>
                  <a:gd name="T5" fmla="*/ 3 h 167"/>
                  <a:gd name="T6" fmla="*/ 383 w 445"/>
                  <a:gd name="T7" fmla="*/ 10 h 167"/>
                  <a:gd name="T8" fmla="*/ 403 w 445"/>
                  <a:gd name="T9" fmla="*/ 24 h 167"/>
                  <a:gd name="T10" fmla="*/ 421 w 445"/>
                  <a:gd name="T11" fmla="*/ 41 h 167"/>
                  <a:gd name="T12" fmla="*/ 435 w 445"/>
                  <a:gd name="T13" fmla="*/ 62 h 167"/>
                  <a:gd name="T14" fmla="*/ 442 w 445"/>
                  <a:gd name="T15" fmla="*/ 85 h 167"/>
                  <a:gd name="T16" fmla="*/ 445 w 445"/>
                  <a:gd name="T17" fmla="*/ 111 h 167"/>
                  <a:gd name="T18" fmla="*/ 445 w 445"/>
                  <a:gd name="T19" fmla="*/ 167 h 167"/>
                  <a:gd name="T20" fmla="*/ 0 w 445"/>
                  <a:gd name="T21" fmla="*/ 167 h 167"/>
                  <a:gd name="T22" fmla="*/ 0 w 445"/>
                  <a:gd name="T23" fmla="*/ 111 h 167"/>
                  <a:gd name="T24" fmla="*/ 2 w 445"/>
                  <a:gd name="T25" fmla="*/ 85 h 167"/>
                  <a:gd name="T26" fmla="*/ 11 w 445"/>
                  <a:gd name="T27" fmla="*/ 62 h 167"/>
                  <a:gd name="T28" fmla="*/ 24 w 445"/>
                  <a:gd name="T29" fmla="*/ 41 h 167"/>
                  <a:gd name="T30" fmla="*/ 41 w 445"/>
                  <a:gd name="T31" fmla="*/ 24 h 167"/>
                  <a:gd name="T32" fmla="*/ 61 w 445"/>
                  <a:gd name="T33" fmla="*/ 10 h 167"/>
                  <a:gd name="T34" fmla="*/ 85 w 445"/>
                  <a:gd name="T35" fmla="*/ 3 h 167"/>
                  <a:gd name="T36" fmla="*/ 111 w 445"/>
                  <a:gd name="T37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7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3"/>
                    </a:lnTo>
                    <a:lnTo>
                      <a:pt x="383" y="10"/>
                    </a:lnTo>
                    <a:lnTo>
                      <a:pt x="403" y="24"/>
                    </a:lnTo>
                    <a:lnTo>
                      <a:pt x="421" y="41"/>
                    </a:lnTo>
                    <a:lnTo>
                      <a:pt x="435" y="62"/>
                    </a:lnTo>
                    <a:lnTo>
                      <a:pt x="442" y="85"/>
                    </a:lnTo>
                    <a:lnTo>
                      <a:pt x="445" y="111"/>
                    </a:lnTo>
                    <a:lnTo>
                      <a:pt x="445" y="167"/>
                    </a:lnTo>
                    <a:lnTo>
                      <a:pt x="0" y="167"/>
                    </a:lnTo>
                    <a:lnTo>
                      <a:pt x="0" y="111"/>
                    </a:lnTo>
                    <a:lnTo>
                      <a:pt x="2" y="85"/>
                    </a:lnTo>
                    <a:lnTo>
                      <a:pt x="11" y="62"/>
                    </a:lnTo>
                    <a:lnTo>
                      <a:pt x="24" y="41"/>
                    </a:lnTo>
                    <a:lnTo>
                      <a:pt x="41" y="24"/>
                    </a:lnTo>
                    <a:lnTo>
                      <a:pt x="61" y="10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Freeform 102">
                <a:extLst>
                  <a:ext uri="{FF2B5EF4-FFF2-40B4-BE49-F238E27FC236}">
                    <a16:creationId xmlns:a16="http://schemas.microsoft.com/office/drawing/2014/main" id="{A08E7BE6-0255-24AC-5E9D-741D36311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4732" y="478024"/>
                <a:ext cx="344803" cy="34697"/>
              </a:xfrm>
              <a:custGeom>
                <a:avLst/>
                <a:gdLst>
                  <a:gd name="T0" fmla="*/ 111 w 2230"/>
                  <a:gd name="T1" fmla="*/ 0 h 224"/>
                  <a:gd name="T2" fmla="*/ 2119 w 2230"/>
                  <a:gd name="T3" fmla="*/ 0 h 224"/>
                  <a:gd name="T4" fmla="*/ 2145 w 2230"/>
                  <a:gd name="T5" fmla="*/ 3 h 224"/>
                  <a:gd name="T6" fmla="*/ 2168 w 2230"/>
                  <a:gd name="T7" fmla="*/ 12 h 224"/>
                  <a:gd name="T8" fmla="*/ 2189 w 2230"/>
                  <a:gd name="T9" fmla="*/ 25 h 224"/>
                  <a:gd name="T10" fmla="*/ 2207 w 2230"/>
                  <a:gd name="T11" fmla="*/ 42 h 224"/>
                  <a:gd name="T12" fmla="*/ 2220 w 2230"/>
                  <a:gd name="T13" fmla="*/ 63 h 224"/>
                  <a:gd name="T14" fmla="*/ 2228 w 2230"/>
                  <a:gd name="T15" fmla="*/ 86 h 224"/>
                  <a:gd name="T16" fmla="*/ 2230 w 2230"/>
                  <a:gd name="T17" fmla="*/ 111 h 224"/>
                  <a:gd name="T18" fmla="*/ 2228 w 2230"/>
                  <a:gd name="T19" fmla="*/ 137 h 224"/>
                  <a:gd name="T20" fmla="*/ 2220 w 2230"/>
                  <a:gd name="T21" fmla="*/ 161 h 224"/>
                  <a:gd name="T22" fmla="*/ 2207 w 2230"/>
                  <a:gd name="T23" fmla="*/ 182 h 224"/>
                  <a:gd name="T24" fmla="*/ 2189 w 2230"/>
                  <a:gd name="T25" fmla="*/ 199 h 224"/>
                  <a:gd name="T26" fmla="*/ 2168 w 2230"/>
                  <a:gd name="T27" fmla="*/ 212 h 224"/>
                  <a:gd name="T28" fmla="*/ 2145 w 2230"/>
                  <a:gd name="T29" fmla="*/ 221 h 224"/>
                  <a:gd name="T30" fmla="*/ 2119 w 2230"/>
                  <a:gd name="T31" fmla="*/ 224 h 224"/>
                  <a:gd name="T32" fmla="*/ 111 w 2230"/>
                  <a:gd name="T33" fmla="*/ 224 h 224"/>
                  <a:gd name="T34" fmla="*/ 85 w 2230"/>
                  <a:gd name="T35" fmla="*/ 221 h 224"/>
                  <a:gd name="T36" fmla="*/ 62 w 2230"/>
                  <a:gd name="T37" fmla="*/ 212 h 224"/>
                  <a:gd name="T38" fmla="*/ 41 w 2230"/>
                  <a:gd name="T39" fmla="*/ 199 h 224"/>
                  <a:gd name="T40" fmla="*/ 23 w 2230"/>
                  <a:gd name="T41" fmla="*/ 182 h 224"/>
                  <a:gd name="T42" fmla="*/ 10 w 2230"/>
                  <a:gd name="T43" fmla="*/ 161 h 224"/>
                  <a:gd name="T44" fmla="*/ 2 w 2230"/>
                  <a:gd name="T45" fmla="*/ 137 h 224"/>
                  <a:gd name="T46" fmla="*/ 0 w 2230"/>
                  <a:gd name="T47" fmla="*/ 111 h 224"/>
                  <a:gd name="T48" fmla="*/ 2 w 2230"/>
                  <a:gd name="T49" fmla="*/ 86 h 224"/>
                  <a:gd name="T50" fmla="*/ 10 w 2230"/>
                  <a:gd name="T51" fmla="*/ 63 h 224"/>
                  <a:gd name="T52" fmla="*/ 23 w 2230"/>
                  <a:gd name="T53" fmla="*/ 42 h 224"/>
                  <a:gd name="T54" fmla="*/ 41 w 2230"/>
                  <a:gd name="T55" fmla="*/ 25 h 224"/>
                  <a:gd name="T56" fmla="*/ 62 w 2230"/>
                  <a:gd name="T57" fmla="*/ 12 h 224"/>
                  <a:gd name="T58" fmla="*/ 85 w 2230"/>
                  <a:gd name="T59" fmla="*/ 3 h 224"/>
                  <a:gd name="T60" fmla="*/ 111 w 2230"/>
                  <a:gd name="T61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30" h="224">
                    <a:moveTo>
                      <a:pt x="111" y="0"/>
                    </a:moveTo>
                    <a:lnTo>
                      <a:pt x="2119" y="0"/>
                    </a:lnTo>
                    <a:lnTo>
                      <a:pt x="2145" y="3"/>
                    </a:lnTo>
                    <a:lnTo>
                      <a:pt x="2168" y="12"/>
                    </a:lnTo>
                    <a:lnTo>
                      <a:pt x="2189" y="25"/>
                    </a:lnTo>
                    <a:lnTo>
                      <a:pt x="2207" y="42"/>
                    </a:lnTo>
                    <a:lnTo>
                      <a:pt x="2220" y="63"/>
                    </a:lnTo>
                    <a:lnTo>
                      <a:pt x="2228" y="86"/>
                    </a:lnTo>
                    <a:lnTo>
                      <a:pt x="2230" y="111"/>
                    </a:lnTo>
                    <a:lnTo>
                      <a:pt x="2228" y="137"/>
                    </a:lnTo>
                    <a:lnTo>
                      <a:pt x="2220" y="161"/>
                    </a:lnTo>
                    <a:lnTo>
                      <a:pt x="2207" y="182"/>
                    </a:lnTo>
                    <a:lnTo>
                      <a:pt x="2189" y="199"/>
                    </a:lnTo>
                    <a:lnTo>
                      <a:pt x="2168" y="212"/>
                    </a:lnTo>
                    <a:lnTo>
                      <a:pt x="2145" y="221"/>
                    </a:lnTo>
                    <a:lnTo>
                      <a:pt x="2119" y="224"/>
                    </a:lnTo>
                    <a:lnTo>
                      <a:pt x="111" y="224"/>
                    </a:lnTo>
                    <a:lnTo>
                      <a:pt x="85" y="221"/>
                    </a:lnTo>
                    <a:lnTo>
                      <a:pt x="62" y="212"/>
                    </a:lnTo>
                    <a:lnTo>
                      <a:pt x="41" y="199"/>
                    </a:lnTo>
                    <a:lnTo>
                      <a:pt x="23" y="182"/>
                    </a:lnTo>
                    <a:lnTo>
                      <a:pt x="10" y="161"/>
                    </a:lnTo>
                    <a:lnTo>
                      <a:pt x="2" y="137"/>
                    </a:lnTo>
                    <a:lnTo>
                      <a:pt x="0" y="111"/>
                    </a:lnTo>
                    <a:lnTo>
                      <a:pt x="2" y="86"/>
                    </a:lnTo>
                    <a:lnTo>
                      <a:pt x="10" y="63"/>
                    </a:lnTo>
                    <a:lnTo>
                      <a:pt x="23" y="42"/>
                    </a:lnTo>
                    <a:lnTo>
                      <a:pt x="41" y="25"/>
                    </a:lnTo>
                    <a:lnTo>
                      <a:pt x="62" y="12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Rectangle 103">
                <a:extLst>
                  <a:ext uri="{FF2B5EF4-FFF2-40B4-BE49-F238E27FC236}">
                    <a16:creationId xmlns:a16="http://schemas.microsoft.com/office/drawing/2014/main" id="{5C8BDEB4-5423-1B12-EB2F-0D6D5128A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321887"/>
                <a:ext cx="68310" cy="8674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Rectangle 104">
                <a:extLst>
                  <a:ext uri="{FF2B5EF4-FFF2-40B4-BE49-F238E27FC236}">
                    <a16:creationId xmlns:a16="http://schemas.microsoft.com/office/drawing/2014/main" id="{276C37BD-AD2C-53AA-87D7-739ACFDC9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9B37986B-7509-05C9-2694-6D4BDC65E6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4502" y="496877"/>
            <a:ext cx="2527765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Langues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Freeform 15">
            <a:extLst>
              <a:ext uri="{FF2B5EF4-FFF2-40B4-BE49-F238E27FC236}">
                <a16:creationId xmlns:a16="http://schemas.microsoft.com/office/drawing/2014/main" id="{36D8D349-3EA0-56F6-9288-9756EA1F51C9}"/>
              </a:ext>
            </a:extLst>
          </p:cNvPr>
          <p:cNvSpPr>
            <a:spLocks/>
          </p:cNvSpPr>
          <p:nvPr/>
        </p:nvSpPr>
        <p:spPr bwMode="auto">
          <a:xfrm>
            <a:off x="642979" y="1433872"/>
            <a:ext cx="0" cy="2962"/>
          </a:xfrm>
          <a:custGeom>
            <a:avLst/>
            <a:gdLst>
              <a:gd name="T0" fmla="*/ 0 h 26"/>
              <a:gd name="T1" fmla="*/ 21 h 26"/>
              <a:gd name="T2" fmla="*/ 26 h 26"/>
              <a:gd name="T3" fmla="*/ 0 h 26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6">
                <a:moveTo>
                  <a:pt x="0" y="0"/>
                </a:moveTo>
                <a:lnTo>
                  <a:pt x="0" y="21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Freeform 18">
            <a:extLst>
              <a:ext uri="{FF2B5EF4-FFF2-40B4-BE49-F238E27FC236}">
                <a16:creationId xmlns:a16="http://schemas.microsoft.com/office/drawing/2014/main" id="{C3E8101E-C609-8517-C510-264E7C47F209}"/>
              </a:ext>
            </a:extLst>
          </p:cNvPr>
          <p:cNvSpPr>
            <a:spLocks/>
          </p:cNvSpPr>
          <p:nvPr/>
        </p:nvSpPr>
        <p:spPr bwMode="auto">
          <a:xfrm>
            <a:off x="991771" y="1258069"/>
            <a:ext cx="0" cy="3703"/>
          </a:xfrm>
          <a:custGeom>
            <a:avLst/>
            <a:gdLst>
              <a:gd name="T0" fmla="*/ 1 w 1"/>
              <a:gd name="T1" fmla="*/ 0 h 35"/>
              <a:gd name="T2" fmla="*/ 1 w 1"/>
              <a:gd name="T3" fmla="*/ 5 h 35"/>
              <a:gd name="T4" fmla="*/ 1 w 1"/>
              <a:gd name="T5" fmla="*/ 35 h 35"/>
              <a:gd name="T6" fmla="*/ 1 w 1"/>
              <a:gd name="T7" fmla="*/ 31 h 35"/>
              <a:gd name="T8" fmla="*/ 0 w 1"/>
              <a:gd name="T9" fmla="*/ 26 h 35"/>
              <a:gd name="T10" fmla="*/ 1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1" y="0"/>
                </a:moveTo>
                <a:lnTo>
                  <a:pt x="1" y="5"/>
                </a:lnTo>
                <a:lnTo>
                  <a:pt x="1" y="35"/>
                </a:lnTo>
                <a:lnTo>
                  <a:pt x="1" y="31"/>
                </a:lnTo>
                <a:lnTo>
                  <a:pt x="0" y="26"/>
                </a:lnTo>
                <a:lnTo>
                  <a:pt x="1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Freeform 19">
            <a:extLst>
              <a:ext uri="{FF2B5EF4-FFF2-40B4-BE49-F238E27FC236}">
                <a16:creationId xmlns:a16="http://schemas.microsoft.com/office/drawing/2014/main" id="{CF52A832-503E-13A2-3D21-5A38A69E7A2A}"/>
              </a:ext>
            </a:extLst>
          </p:cNvPr>
          <p:cNvSpPr>
            <a:spLocks/>
          </p:cNvSpPr>
          <p:nvPr/>
        </p:nvSpPr>
        <p:spPr bwMode="auto">
          <a:xfrm>
            <a:off x="642979" y="1436093"/>
            <a:ext cx="0" cy="3703"/>
          </a:xfrm>
          <a:custGeom>
            <a:avLst/>
            <a:gdLst>
              <a:gd name="T0" fmla="*/ 0 w 1"/>
              <a:gd name="T1" fmla="*/ 0 h 35"/>
              <a:gd name="T2" fmla="*/ 1 w 1"/>
              <a:gd name="T3" fmla="*/ 26 h 35"/>
              <a:gd name="T4" fmla="*/ 0 w 1"/>
              <a:gd name="T5" fmla="*/ 31 h 35"/>
              <a:gd name="T6" fmla="*/ 0 w 1"/>
              <a:gd name="T7" fmla="*/ 35 h 35"/>
              <a:gd name="T8" fmla="*/ 0 w 1"/>
              <a:gd name="T9" fmla="*/ 5 h 35"/>
              <a:gd name="T10" fmla="*/ 0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0" y="0"/>
                </a:moveTo>
                <a:lnTo>
                  <a:pt x="1" y="26"/>
                </a:lnTo>
                <a:lnTo>
                  <a:pt x="0" y="31"/>
                </a:lnTo>
                <a:lnTo>
                  <a:pt x="0" y="3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Box 103">
            <a:extLst>
              <a:ext uri="{FF2B5EF4-FFF2-40B4-BE49-F238E27FC236}">
                <a16:creationId xmlns:a16="http://schemas.microsoft.com/office/drawing/2014/main" id="{5CBB2A48-7759-E78D-B164-32E614356076}"/>
              </a:ext>
            </a:extLst>
          </p:cNvPr>
          <p:cNvSpPr txBox="1"/>
          <p:nvPr/>
        </p:nvSpPr>
        <p:spPr>
          <a:xfrm>
            <a:off x="5027" y="1023797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noProof="0" dirty="0" err="1">
                <a:solidFill>
                  <a:srgbClr val="FFFFFF"/>
                </a:solidFill>
                <a:latin typeface="Arial"/>
              </a:rPr>
              <a:t>Français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3" name="TextBox 103">
            <a:extLst>
              <a:ext uri="{FF2B5EF4-FFF2-40B4-BE49-F238E27FC236}">
                <a16:creationId xmlns:a16="http://schemas.microsoft.com/office/drawing/2014/main" id="{EE6AB42D-84DF-3443-8006-AE59FD7CAE49}"/>
              </a:ext>
            </a:extLst>
          </p:cNvPr>
          <p:cNvSpPr txBox="1"/>
          <p:nvPr/>
        </p:nvSpPr>
        <p:spPr>
          <a:xfrm>
            <a:off x="6348" y="1440733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err="1">
                <a:solidFill>
                  <a:srgbClr val="FFFFFF"/>
                </a:solidFill>
                <a:latin typeface="Arial"/>
              </a:rPr>
              <a:t>Anglais</a:t>
            </a:r>
            <a:endParaRPr lang="en-US" sz="1200" kern="0" noProof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Organigramme : Connecteur 53">
            <a:extLst>
              <a:ext uri="{FF2B5EF4-FFF2-40B4-BE49-F238E27FC236}">
                <a16:creationId xmlns:a16="http://schemas.microsoft.com/office/drawing/2014/main" id="{92AA25CE-E81F-6A3A-0618-C4E48BA27556}"/>
              </a:ext>
            </a:extLst>
          </p:cNvPr>
          <p:cNvSpPr/>
          <p:nvPr/>
        </p:nvSpPr>
        <p:spPr>
          <a:xfrm>
            <a:off x="972438" y="1124457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Organigramme : Connecteur 54">
            <a:extLst>
              <a:ext uri="{FF2B5EF4-FFF2-40B4-BE49-F238E27FC236}">
                <a16:creationId xmlns:a16="http://schemas.microsoft.com/office/drawing/2014/main" id="{0DD87702-2C36-1877-0EFE-DA935E78A8B3}"/>
              </a:ext>
            </a:extLst>
          </p:cNvPr>
          <p:cNvSpPr/>
          <p:nvPr/>
        </p:nvSpPr>
        <p:spPr>
          <a:xfrm>
            <a:off x="1191950" y="1125855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Organigramme : Connecteur 55">
            <a:extLst>
              <a:ext uri="{FF2B5EF4-FFF2-40B4-BE49-F238E27FC236}">
                <a16:creationId xmlns:a16="http://schemas.microsoft.com/office/drawing/2014/main" id="{8FE20762-F592-F5CD-F648-63E9B6F6B298}"/>
              </a:ext>
            </a:extLst>
          </p:cNvPr>
          <p:cNvSpPr/>
          <p:nvPr/>
        </p:nvSpPr>
        <p:spPr>
          <a:xfrm>
            <a:off x="1419851" y="1127253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Organigramme : Connecteur 56">
            <a:extLst>
              <a:ext uri="{FF2B5EF4-FFF2-40B4-BE49-F238E27FC236}">
                <a16:creationId xmlns:a16="http://schemas.microsoft.com/office/drawing/2014/main" id="{0027182A-EB0C-8FEE-525D-AE08C6B15CD2}"/>
              </a:ext>
            </a:extLst>
          </p:cNvPr>
          <p:cNvSpPr/>
          <p:nvPr/>
        </p:nvSpPr>
        <p:spPr>
          <a:xfrm>
            <a:off x="1656141" y="1128651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Organigramme : Connecteur 57">
            <a:extLst>
              <a:ext uri="{FF2B5EF4-FFF2-40B4-BE49-F238E27FC236}">
                <a16:creationId xmlns:a16="http://schemas.microsoft.com/office/drawing/2014/main" id="{4A7F531F-DBB8-F6AB-7A0B-DA3614F714DD}"/>
              </a:ext>
            </a:extLst>
          </p:cNvPr>
          <p:cNvSpPr/>
          <p:nvPr/>
        </p:nvSpPr>
        <p:spPr>
          <a:xfrm>
            <a:off x="1892431" y="1129752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Organigramme : Connecteur 58">
            <a:extLst>
              <a:ext uri="{FF2B5EF4-FFF2-40B4-BE49-F238E27FC236}">
                <a16:creationId xmlns:a16="http://schemas.microsoft.com/office/drawing/2014/main" id="{B0B2BC3D-DD01-F577-C451-905F41215E23}"/>
              </a:ext>
            </a:extLst>
          </p:cNvPr>
          <p:cNvSpPr/>
          <p:nvPr/>
        </p:nvSpPr>
        <p:spPr>
          <a:xfrm>
            <a:off x="972945" y="1520956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Organigramme : Connecteur 59">
            <a:extLst>
              <a:ext uri="{FF2B5EF4-FFF2-40B4-BE49-F238E27FC236}">
                <a16:creationId xmlns:a16="http://schemas.microsoft.com/office/drawing/2014/main" id="{92E920A0-CFBB-06CF-4A21-66CEA741EDBD}"/>
              </a:ext>
            </a:extLst>
          </p:cNvPr>
          <p:cNvSpPr/>
          <p:nvPr/>
        </p:nvSpPr>
        <p:spPr>
          <a:xfrm>
            <a:off x="1192457" y="1522354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Organigramme : Connecteur 60">
            <a:extLst>
              <a:ext uri="{FF2B5EF4-FFF2-40B4-BE49-F238E27FC236}">
                <a16:creationId xmlns:a16="http://schemas.microsoft.com/office/drawing/2014/main" id="{550B4441-1783-E3C2-F1C3-4E70386F9C31}"/>
              </a:ext>
            </a:extLst>
          </p:cNvPr>
          <p:cNvSpPr/>
          <p:nvPr/>
        </p:nvSpPr>
        <p:spPr>
          <a:xfrm>
            <a:off x="1656648" y="1525150"/>
            <a:ext cx="150590" cy="150590"/>
          </a:xfrm>
          <a:prstGeom prst="flowChartConnector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Organigramme : Connecteur 61">
            <a:extLst>
              <a:ext uri="{FF2B5EF4-FFF2-40B4-BE49-F238E27FC236}">
                <a16:creationId xmlns:a16="http://schemas.microsoft.com/office/drawing/2014/main" id="{8D90A6B4-22AB-F58D-6DE2-658A48EA7DC4}"/>
              </a:ext>
            </a:extLst>
          </p:cNvPr>
          <p:cNvSpPr/>
          <p:nvPr/>
        </p:nvSpPr>
        <p:spPr>
          <a:xfrm>
            <a:off x="1892938" y="1518159"/>
            <a:ext cx="150590" cy="150590"/>
          </a:xfrm>
          <a:prstGeom prst="flowChartConnector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Organigramme : Connecteur 62">
            <a:extLst>
              <a:ext uri="{FF2B5EF4-FFF2-40B4-BE49-F238E27FC236}">
                <a16:creationId xmlns:a16="http://schemas.microsoft.com/office/drawing/2014/main" id="{7EFD978C-1869-7184-ECC5-8B48587CC765}"/>
              </a:ext>
            </a:extLst>
          </p:cNvPr>
          <p:cNvSpPr/>
          <p:nvPr/>
        </p:nvSpPr>
        <p:spPr>
          <a:xfrm>
            <a:off x="1428747" y="1518159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65453C-DDDF-955A-887C-EEB64E073F01}"/>
              </a:ext>
            </a:extLst>
          </p:cNvPr>
          <p:cNvSpPr/>
          <p:nvPr/>
        </p:nvSpPr>
        <p:spPr>
          <a:xfrm>
            <a:off x="2755145" y="585755"/>
            <a:ext cx="7341876" cy="447160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44A7E2-4026-467F-1F2F-33897C5D6FD9}"/>
              </a:ext>
            </a:extLst>
          </p:cNvPr>
          <p:cNvSpPr/>
          <p:nvPr/>
        </p:nvSpPr>
        <p:spPr>
          <a:xfrm>
            <a:off x="5729984" y="2607972"/>
            <a:ext cx="2556000" cy="36894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9F4E6-9D85-23B1-5D04-3F631157CEB1}"/>
              </a:ext>
            </a:extLst>
          </p:cNvPr>
          <p:cNvSpPr/>
          <p:nvPr/>
        </p:nvSpPr>
        <p:spPr>
          <a:xfrm>
            <a:off x="2881795" y="721101"/>
            <a:ext cx="7205551" cy="424731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fr-FR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web – </a:t>
            </a:r>
            <a:r>
              <a:rPr lang="fr-FR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GermeTech</a:t>
            </a: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Lomé 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mai – 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juil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2022 (Stage)</a:t>
            </a:r>
          </a:p>
          <a:p>
            <a:pPr>
              <a:defRPr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Maîtrise de la gestion de bases de données MySQL et de la création de requêtes SQL.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Connaissance des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PHP comme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pour le développement d'applications web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– </a:t>
            </a:r>
            <a:r>
              <a:rPr lang="fr-FR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HarmonyTech</a:t>
            </a: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Lomé </a:t>
            </a: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 2021 –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fev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2022 (Stage)</a:t>
            </a: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Développement de sites web responsifs avec HTML5, CSS3, PHP et JavaScript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(https://harmonysite.000webhostapp.com/harmony_site/index.php).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 : (https://harmonysite.000webhostapp.com/blog/index.php)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Formatrice en HTML/CSS, Bootstrap &amp; PHP à Harmony Tech.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web – </a:t>
            </a:r>
            <a:r>
              <a:rPr lang="fr-FR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Killingiants</a:t>
            </a: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Lomé 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juin – 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2021 (Stage)</a:t>
            </a:r>
          </a:p>
          <a:p>
            <a:pPr>
              <a:defRPr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 du cahier de charge.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Conception de site web en WordPress.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Conceptions des prototypes d'interface.</a:t>
            </a: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Utilisation des technologies comme Trello et Jira</a:t>
            </a:r>
          </a:p>
        </p:txBody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21F4B480-A7D0-B84B-0C8B-21C725AFA25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2665085" y="373087"/>
            <a:ext cx="552985" cy="552985"/>
            <a:chOff x="5890641" y="1631738"/>
            <a:chExt cx="552985" cy="552985"/>
          </a:xfrm>
        </p:grpSpPr>
        <p:sp>
          <p:nvSpPr>
            <p:cNvPr id="6" name="Oval 112">
              <a:extLst>
                <a:ext uri="{FF2B5EF4-FFF2-40B4-BE49-F238E27FC236}">
                  <a16:creationId xmlns:a16="http://schemas.microsoft.com/office/drawing/2014/main" id="{1921B658-CD76-E4F4-B127-05A89B9173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Freeform 81">
              <a:extLst>
                <a:ext uri="{FF2B5EF4-FFF2-40B4-BE49-F238E27FC236}">
                  <a16:creationId xmlns:a16="http://schemas.microsoft.com/office/drawing/2014/main" id="{DC713B59-68EC-C362-8990-CD8A703E0B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93F2FA2-3DF7-ED49-A87D-6AF90F1E9E32}"/>
              </a:ext>
            </a:extLst>
          </p:cNvPr>
          <p:cNvSpPr/>
          <p:nvPr/>
        </p:nvSpPr>
        <p:spPr>
          <a:xfrm>
            <a:off x="3218068" y="373087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Expériences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" name="Image 9" descr="Une image contenant clipart, Graphique, dessin, symbole&#10;&#10;Description générée automatiquement">
            <a:extLst>
              <a:ext uri="{FF2B5EF4-FFF2-40B4-BE49-F238E27FC236}">
                <a16:creationId xmlns:a16="http://schemas.microsoft.com/office/drawing/2014/main" id="{70EF6795-81AC-A61F-047D-A682488918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2842" y="1073064"/>
            <a:ext cx="904172" cy="904172"/>
          </a:xfrm>
          <a:prstGeom prst="rect">
            <a:avLst/>
          </a:prstGeom>
        </p:spPr>
      </p:pic>
      <p:pic>
        <p:nvPicPr>
          <p:cNvPr id="13" name="Image 12" descr="Une image contenant texte, symbole, Police, logo&#10;&#10;Description générée automatiquement">
            <a:extLst>
              <a:ext uri="{FF2B5EF4-FFF2-40B4-BE49-F238E27FC236}">
                <a16:creationId xmlns:a16="http://schemas.microsoft.com/office/drawing/2014/main" id="{CD7BD800-BA54-ECCA-9289-19C318E1A2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945" y="2222437"/>
            <a:ext cx="1371966" cy="1371966"/>
          </a:xfrm>
          <a:prstGeom prst="rect">
            <a:avLst/>
          </a:prstGeom>
        </p:spPr>
      </p:pic>
      <p:pic>
        <p:nvPicPr>
          <p:cNvPr id="15" name="Image 14" descr="Une image contenant Graphique, blanc, conception&#10;&#10;Description générée automatiquement">
            <a:extLst>
              <a:ext uri="{FF2B5EF4-FFF2-40B4-BE49-F238E27FC236}">
                <a16:creationId xmlns:a16="http://schemas.microsoft.com/office/drawing/2014/main" id="{47DD08F3-4CAB-16FD-33B0-7F5AAE946F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120" y="4083472"/>
            <a:ext cx="1147615" cy="114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784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6855</TotalTime>
  <Words>453</Words>
  <Application>Microsoft Office PowerPoint</Application>
  <PresentationFormat>Grand écran</PresentationFormat>
  <Paragraphs>68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costumer 64</dc:creator>
  <cp:lastModifiedBy>Faouz NAKAMBONI</cp:lastModifiedBy>
  <cp:revision>61</cp:revision>
  <dcterms:created xsi:type="dcterms:W3CDTF">2022-10-06T13:16:20Z</dcterms:created>
  <dcterms:modified xsi:type="dcterms:W3CDTF">2024-05-27T14:03:48Z</dcterms:modified>
</cp:coreProperties>
</file>