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sldIdLst>
    <p:sldId id="258" r:id="rId2"/>
    <p:sldId id="259" r:id="rId3"/>
  </p:sldIdLst>
  <p:sldSz cx="12192000" cy="6858000"/>
  <p:notesSz cx="6858000" cy="9144000"/>
  <p:defaultTextStyle>
    <a:defPPr>
      <a:defRPr lang="fr-T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1616"/>
    <a:srgbClr val="7F7F7F"/>
    <a:srgbClr val="595959"/>
    <a:srgbClr val="969696"/>
    <a:srgbClr val="AEAEAE"/>
    <a:srgbClr val="C2545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notesViewPr>
    <p:cSldViewPr snapToGrid="0">
      <p:cViewPr varScale="1">
        <p:scale>
          <a:sx n="87" d="100"/>
          <a:sy n="87" d="100"/>
        </p:scale>
        <p:origin x="3840" y="6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FCBD36-9BB8-48CE-9947-619BC0A6F366}" type="datetimeFigureOut">
              <a:rPr lang="fr-FR" smtClean="0"/>
              <a:t>16/05/2025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30547C-A865-40F4-A121-B1AFD5BD20BE}" type="slidenum">
              <a:rPr lang="fr-FR" smtClean="0"/>
              <a:t>‹N°›</a:t>
            </a:fld>
            <a:endParaRPr lang="fr-FR"/>
          </a:p>
        </p:txBody>
      </p:sp>
    </p:spTree>
    <p:extLst>
      <p:ext uri="{BB962C8B-B14F-4D97-AF65-F5344CB8AC3E}">
        <p14:creationId xmlns:p14="http://schemas.microsoft.com/office/powerpoint/2010/main" val="36324737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66C3DD6-F0B1-1ADF-7822-2680FA333541}"/>
              </a:ext>
            </a:extLst>
          </p:cNvPr>
          <p:cNvSpPr>
            <a:spLocks noGrp="1"/>
          </p:cNvSpPr>
          <p:nvPr>
            <p:ph type="title" hasCustomPrompt="1"/>
          </p:nvPr>
        </p:nvSpPr>
        <p:spPr>
          <a:xfrm>
            <a:off x="422564" y="2645929"/>
            <a:ext cx="10515600" cy="1325563"/>
          </a:xfrm>
        </p:spPr>
        <p:txBody>
          <a:bodyPr/>
          <a:lstStyle>
            <a:lvl1pPr>
              <a:defRPr b="1">
                <a:latin typeface="Arial" panose="020B0604020202020204" pitchFamily="34" charset="0"/>
                <a:cs typeface="Arial" panose="020B0604020202020204" pitchFamily="34" charset="0"/>
              </a:defRPr>
            </a:lvl1pPr>
          </a:lstStyle>
          <a:p>
            <a:r>
              <a:rPr lang="fr-FR" dirty="0"/>
              <a:t>Titres</a:t>
            </a:r>
            <a:endParaRPr lang="fr-TG" dirty="0"/>
          </a:p>
        </p:txBody>
      </p:sp>
      <p:sp>
        <p:nvSpPr>
          <p:cNvPr id="4" name="Titre 1">
            <a:extLst>
              <a:ext uri="{FF2B5EF4-FFF2-40B4-BE49-F238E27FC236}">
                <a16:creationId xmlns:a16="http://schemas.microsoft.com/office/drawing/2014/main" id="{8D78BA6D-1FAC-6C8F-9FBE-BF8FF1C1F460}"/>
              </a:ext>
            </a:extLst>
          </p:cNvPr>
          <p:cNvSpPr txBox="1">
            <a:spLocks/>
          </p:cNvSpPr>
          <p:nvPr userDrawn="1"/>
        </p:nvSpPr>
        <p:spPr>
          <a:xfrm>
            <a:off x="422563" y="6356349"/>
            <a:ext cx="3484419" cy="36512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1400" dirty="0">
                <a:solidFill>
                  <a:schemeClr val="bg1">
                    <a:lumMod val="50000"/>
                  </a:schemeClr>
                </a:solidFill>
                <a:latin typeface="Arial" panose="020B0604020202020204" pitchFamily="34" charset="0"/>
                <a:cs typeface="Arial" panose="020B0604020202020204" pitchFamily="34" charset="0"/>
                <a:sym typeface="Symbol" panose="05050102010706020507" pitchFamily="18" charset="2"/>
              </a:rPr>
              <a:t> </a:t>
            </a:r>
            <a:r>
              <a:rPr lang="fr-FR" sz="1400" dirty="0">
                <a:solidFill>
                  <a:schemeClr val="bg1">
                    <a:lumMod val="50000"/>
                  </a:schemeClr>
                </a:solidFill>
                <a:latin typeface="Arial" panose="020B0604020202020204" pitchFamily="34" charset="0"/>
                <a:cs typeface="Arial" panose="020B0604020202020204" pitchFamily="34" charset="0"/>
              </a:rPr>
              <a:t>2022 </a:t>
            </a:r>
            <a:r>
              <a:rPr lang="fr-FR" sz="1400" dirty="0" err="1">
                <a:solidFill>
                  <a:schemeClr val="bg1">
                    <a:lumMod val="50000"/>
                  </a:schemeClr>
                </a:solidFill>
                <a:latin typeface="Arial" panose="020B0604020202020204" pitchFamily="34" charset="0"/>
                <a:cs typeface="Arial" panose="020B0604020202020204" pitchFamily="34" charset="0"/>
              </a:rPr>
              <a:t>wearedigijob</a:t>
            </a:r>
            <a:r>
              <a:rPr lang="fr-FR" sz="1400" dirty="0">
                <a:solidFill>
                  <a:schemeClr val="bg1">
                    <a:lumMod val="50000"/>
                  </a:schemeClr>
                </a:solidFill>
                <a:latin typeface="Arial" panose="020B0604020202020204" pitchFamily="34" charset="0"/>
                <a:cs typeface="Arial" panose="020B0604020202020204" pitchFamily="34" charset="0"/>
              </a:rPr>
              <a:t> CONFIDENTIEL</a:t>
            </a:r>
            <a:endParaRPr lang="fr-TG" sz="1400" dirty="0">
              <a:solidFill>
                <a:schemeClr val="bg1">
                  <a:lumMod val="50000"/>
                </a:schemeClr>
              </a:solidFill>
              <a:latin typeface="Arial" panose="020B0604020202020204" pitchFamily="34" charset="0"/>
              <a:cs typeface="Arial" panose="020B0604020202020204" pitchFamily="34" charset="0"/>
            </a:endParaRPr>
          </a:p>
        </p:txBody>
      </p:sp>
      <p:pic>
        <p:nvPicPr>
          <p:cNvPr id="8" name="Image 7" descr="TECHNOLOGIE PARTICULE BY DIGIJOB">
            <a:extLst>
              <a:ext uri="{FF2B5EF4-FFF2-40B4-BE49-F238E27FC236}">
                <a16:creationId xmlns:a16="http://schemas.microsoft.com/office/drawing/2014/main" id="{802FD084-EAA5-545A-51BB-AFAF66E3806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91248" y="-120290"/>
            <a:ext cx="9700752" cy="6858000"/>
          </a:xfrm>
          <a:prstGeom prst="rect">
            <a:avLst/>
          </a:prstGeom>
        </p:spPr>
      </p:pic>
    </p:spTree>
    <p:extLst>
      <p:ext uri="{BB962C8B-B14F-4D97-AF65-F5344CB8AC3E}">
        <p14:creationId xmlns:p14="http://schemas.microsoft.com/office/powerpoint/2010/main" val="2643282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CA6AB10-64F6-58FC-453E-D5DFEF49C619}"/>
              </a:ext>
            </a:extLst>
          </p:cNvPr>
          <p:cNvSpPr/>
          <p:nvPr userDrawn="1"/>
        </p:nvSpPr>
        <p:spPr>
          <a:xfrm>
            <a:off x="-1" y="0"/>
            <a:ext cx="2526891" cy="6858000"/>
          </a:xfrm>
          <a:prstGeom prst="rect">
            <a:avLst/>
          </a:prstGeom>
          <a:gradFill>
            <a:gsLst>
              <a:gs pos="0">
                <a:srgbClr val="FF1616"/>
              </a:gs>
              <a:gs pos="100000">
                <a:srgbClr val="C25454"/>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TG"/>
          </a:p>
        </p:txBody>
      </p:sp>
    </p:spTree>
    <p:extLst>
      <p:ext uri="{BB962C8B-B14F-4D97-AF65-F5344CB8AC3E}">
        <p14:creationId xmlns:p14="http://schemas.microsoft.com/office/powerpoint/2010/main" val="8894369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861979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77C10B4-13F6-C77B-5F34-9D2A68B3E27A}"/>
              </a:ext>
            </a:extLst>
          </p:cNvPr>
          <p:cNvSpPr>
            <a:spLocks noGrp="1"/>
          </p:cNvSpPr>
          <p:nvPr>
            <p:ph type="title"/>
          </p:nvPr>
        </p:nvSpPr>
        <p:spPr>
          <a:xfrm>
            <a:off x="838200" y="346075"/>
            <a:ext cx="10515600" cy="1325563"/>
          </a:xfrm>
          <a:prstGeom prst="rect">
            <a:avLst/>
          </a:prstGeom>
        </p:spPr>
        <p:txBody>
          <a:bodyPr vert="horz" lIns="91440" tIns="45720" rIns="91440" bIns="45720" rtlCol="0" anchor="ctr">
            <a:normAutofit/>
          </a:bodyPr>
          <a:lstStyle/>
          <a:p>
            <a:r>
              <a:rPr lang="fr-FR"/>
              <a:t>Modifiez le style du titre</a:t>
            </a:r>
            <a:endParaRPr lang="fr-TG"/>
          </a:p>
        </p:txBody>
      </p:sp>
      <p:sp>
        <p:nvSpPr>
          <p:cNvPr id="3" name="Espace réservé du texte 2">
            <a:extLst>
              <a:ext uri="{FF2B5EF4-FFF2-40B4-BE49-F238E27FC236}">
                <a16:creationId xmlns:a16="http://schemas.microsoft.com/office/drawing/2014/main" id="{8A476AE3-38A3-B107-0966-7BAE474BBB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TG"/>
          </a:p>
        </p:txBody>
      </p:sp>
      <p:sp>
        <p:nvSpPr>
          <p:cNvPr id="6" name="Espace réservé du numéro de diapositive 5">
            <a:extLst>
              <a:ext uri="{FF2B5EF4-FFF2-40B4-BE49-F238E27FC236}">
                <a16:creationId xmlns:a16="http://schemas.microsoft.com/office/drawing/2014/main" id="{1816A552-054D-AC08-C4C4-622C5892B68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85F1F8-5550-4822-B94C-D1AD37B41718}" type="slidenum">
              <a:rPr lang="fr-TG" smtClean="0"/>
              <a:t>‹N°›</a:t>
            </a:fld>
            <a:endParaRPr lang="fr-TG"/>
          </a:p>
        </p:txBody>
      </p:sp>
      <p:sp>
        <p:nvSpPr>
          <p:cNvPr id="7" name="Rectangle 6">
            <a:extLst>
              <a:ext uri="{FF2B5EF4-FFF2-40B4-BE49-F238E27FC236}">
                <a16:creationId xmlns:a16="http://schemas.microsoft.com/office/drawing/2014/main" id="{EE3F568A-918D-013D-9997-B084A660D2CB}"/>
              </a:ext>
            </a:extLst>
          </p:cNvPr>
          <p:cNvSpPr/>
          <p:nvPr userDrawn="1"/>
        </p:nvSpPr>
        <p:spPr>
          <a:xfrm>
            <a:off x="0" y="6721475"/>
            <a:ext cx="12192000" cy="136525"/>
          </a:xfrm>
          <a:prstGeom prst="rect">
            <a:avLst/>
          </a:prstGeom>
          <a:solidFill>
            <a:srgbClr val="FF1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TG"/>
          </a:p>
        </p:txBody>
      </p:sp>
      <p:pic>
        <p:nvPicPr>
          <p:cNvPr id="11" name="Image 10">
            <a:extLst>
              <a:ext uri="{FF2B5EF4-FFF2-40B4-BE49-F238E27FC236}">
                <a16:creationId xmlns:a16="http://schemas.microsoft.com/office/drawing/2014/main" id="{9046B298-F724-F868-BE49-6749F8D07535}"/>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1254312" y="209550"/>
            <a:ext cx="731694" cy="731694"/>
          </a:xfrm>
          <a:prstGeom prst="rect">
            <a:avLst/>
          </a:prstGeom>
        </p:spPr>
      </p:pic>
    </p:spTree>
    <p:extLst>
      <p:ext uri="{BB962C8B-B14F-4D97-AF65-F5344CB8AC3E}">
        <p14:creationId xmlns:p14="http://schemas.microsoft.com/office/powerpoint/2010/main" val="2518058208"/>
      </p:ext>
    </p:extLst>
  </p:cSld>
  <p:clrMap bg1="lt1" tx1="dk1" bg2="lt2" tx2="dk2" accent1="accent1" accent2="accent2" accent3="accent3" accent4="accent4" accent5="accent5" accent6="accent6" hlink="hlink" folHlink="folHlink"/>
  <p:sldLayoutIdLst>
    <p:sldLayoutId id="2147483661" r:id="rId1"/>
    <p:sldLayoutId id="2147483655" r:id="rId2"/>
    <p:sldLayoutId id="2147483649"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T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3.xml"/><Relationship Id="rId7"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s>
</file>

<file path=ppt/slides/_rels/slide2.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Layout" Target="../slideLayouts/slideLayout2.xml"/><Relationship Id="rId5" Type="http://schemas.openxmlformats.org/officeDocument/2006/relationships/tags" Target="../tags/tag11.xml"/><Relationship Id="rId4" Type="http://schemas.openxmlformats.org/officeDocument/2006/relationships/tags" Target="../tags/tag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5D48D5E-B27C-4D22-FE4D-45C4EDCC1B9A}"/>
              </a:ext>
            </a:extLst>
          </p:cNvPr>
          <p:cNvSpPr/>
          <p:nvPr/>
        </p:nvSpPr>
        <p:spPr>
          <a:xfrm>
            <a:off x="2752670" y="533428"/>
            <a:ext cx="7334676" cy="912817"/>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0" cap="none" spc="0" normalizeH="0" baseline="0" noProof="0" dirty="0">
              <a:ln>
                <a:noFill/>
              </a:ln>
              <a:solidFill>
                <a:srgbClr val="FFFFFF">
                  <a:lumMod val="50000"/>
                </a:srgbClr>
              </a:solidFill>
              <a:effectLst/>
              <a:uLnTx/>
              <a:uFillTx/>
              <a:latin typeface="Arial"/>
            </a:endParaRPr>
          </a:p>
          <a:p>
            <a:pPr marR="0" lvl="0" algn="just" defTabSz="914400" rtl="0" eaLnBrk="1" fontAlgn="auto" latinLnBrk="0" hangingPunct="1">
              <a:lnSpc>
                <a:spcPct val="100000"/>
              </a:lnSpc>
              <a:spcBef>
                <a:spcPts val="0"/>
              </a:spcBef>
              <a:spcAft>
                <a:spcPts val="0"/>
              </a:spcAft>
              <a:buClrTx/>
              <a:buSzTx/>
              <a:tabLst/>
              <a:defRPr/>
            </a:pPr>
            <a:r>
              <a:rPr lang="fr-FR" sz="1200" kern="0" dirty="0">
                <a:solidFill>
                  <a:srgbClr val="FFFFFF">
                    <a:lumMod val="50000"/>
                  </a:srgbClr>
                </a:solidFill>
                <a:latin typeface="Arial" panose="020B0604020202020204" pitchFamily="34" charset="0"/>
                <a:cs typeface="Arial" panose="020B0604020202020204" pitchFamily="34" charset="0"/>
              </a:rPr>
              <a:t>Titulaire d’une licence en développement web &amp; mobile, je dispose d’une solide expérience dans la conception d’applications web dynamiques et fiables. Évoluant aisément dans des environnements agiles, je mets mes compétences au service de projets exigeants, alliant performance technique et adaptabilité.</a:t>
            </a:r>
            <a:endParaRPr kumimoji="0" lang="en-US" sz="1200" b="0" i="0" u="none" strike="noStrike" kern="0" cap="none" spc="0" normalizeH="0" baseline="0" noProof="0" dirty="0">
              <a:ln>
                <a:noFill/>
              </a:ln>
              <a:solidFill>
                <a:srgbClr val="FFFFFF">
                  <a:lumMod val="50000"/>
                </a:srgbClr>
              </a:solidFill>
              <a:effectLst/>
              <a:uLnTx/>
              <a:uFillTx/>
              <a:latin typeface="Arial" panose="020B0604020202020204" pitchFamily="34" charset="0"/>
              <a:cs typeface="Arial" panose="020B0604020202020204" pitchFamily="34" charset="0"/>
            </a:endParaRPr>
          </a:p>
        </p:txBody>
      </p:sp>
      <p:grpSp>
        <p:nvGrpSpPr>
          <p:cNvPr id="3" name="Group 19">
            <a:extLst>
              <a:ext uri="{FF2B5EF4-FFF2-40B4-BE49-F238E27FC236}">
                <a16:creationId xmlns:a16="http://schemas.microsoft.com/office/drawing/2014/main" id="{D38EEE10-F728-705A-1FE3-EA812B6A4131}"/>
              </a:ext>
            </a:extLst>
          </p:cNvPr>
          <p:cNvGrpSpPr/>
          <p:nvPr/>
        </p:nvGrpSpPr>
        <p:grpSpPr>
          <a:xfrm>
            <a:off x="2646409" y="222012"/>
            <a:ext cx="552985" cy="552985"/>
            <a:chOff x="507861" y="2617801"/>
            <a:chExt cx="552985" cy="552985"/>
          </a:xfrm>
        </p:grpSpPr>
        <p:sp>
          <p:nvSpPr>
            <p:cNvPr id="4" name="Oval 116">
              <a:extLst>
                <a:ext uri="{FF2B5EF4-FFF2-40B4-BE49-F238E27FC236}">
                  <a16:creationId xmlns:a16="http://schemas.microsoft.com/office/drawing/2014/main" id="{CEE86CA9-4FCB-B945-130F-B2E418A053D1}"/>
                </a:ext>
              </a:extLst>
            </p:cNvPr>
            <p:cNvSpPr>
              <a:spLocks noChangeAspect="1"/>
            </p:cNvSpPr>
            <p:nvPr/>
          </p:nvSpPr>
          <p:spPr>
            <a:xfrm>
              <a:off x="507861" y="2617801"/>
              <a:ext cx="552985" cy="552985"/>
            </a:xfrm>
            <a:prstGeom prst="ellipse">
              <a:avLst/>
            </a:prstGeom>
            <a:solidFill>
              <a:srgbClr val="FF161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5" name="Freeform 14">
              <a:extLst>
                <a:ext uri="{FF2B5EF4-FFF2-40B4-BE49-F238E27FC236}">
                  <a16:creationId xmlns:a16="http://schemas.microsoft.com/office/drawing/2014/main" id="{580E59AF-45CB-BE9D-0DFE-F9C3DFAAD0BF}"/>
                </a:ext>
              </a:extLst>
            </p:cNvPr>
            <p:cNvSpPr>
              <a:spLocks/>
            </p:cNvSpPr>
            <p:nvPr/>
          </p:nvSpPr>
          <p:spPr bwMode="auto">
            <a:xfrm>
              <a:off x="614121" y="2687195"/>
              <a:ext cx="340465" cy="414197"/>
            </a:xfrm>
            <a:custGeom>
              <a:avLst/>
              <a:gdLst>
                <a:gd name="T0" fmla="*/ 1120 w 2198"/>
                <a:gd name="T1" fmla="*/ 1 h 2678"/>
                <a:gd name="T2" fmla="*/ 1311 w 2198"/>
                <a:gd name="T3" fmla="*/ 32 h 2678"/>
                <a:gd name="T4" fmla="*/ 1482 w 2198"/>
                <a:gd name="T5" fmla="*/ 115 h 2678"/>
                <a:gd name="T6" fmla="*/ 1628 w 2198"/>
                <a:gd name="T7" fmla="*/ 244 h 2678"/>
                <a:gd name="T8" fmla="*/ 1742 w 2198"/>
                <a:gd name="T9" fmla="*/ 409 h 2678"/>
                <a:gd name="T10" fmla="*/ 1817 w 2198"/>
                <a:gd name="T11" fmla="*/ 604 h 2678"/>
                <a:gd name="T12" fmla="*/ 1848 w 2198"/>
                <a:gd name="T13" fmla="*/ 822 h 2678"/>
                <a:gd name="T14" fmla="*/ 1892 w 2198"/>
                <a:gd name="T15" fmla="*/ 885 h 2678"/>
                <a:gd name="T16" fmla="*/ 1898 w 2198"/>
                <a:gd name="T17" fmla="*/ 977 h 2678"/>
                <a:gd name="T18" fmla="*/ 1864 w 2198"/>
                <a:gd name="T19" fmla="*/ 1086 h 2678"/>
                <a:gd name="T20" fmla="*/ 1791 w 2198"/>
                <a:gd name="T21" fmla="*/ 1199 h 2678"/>
                <a:gd name="T22" fmla="*/ 1707 w 2198"/>
                <a:gd name="T23" fmla="*/ 1405 h 2678"/>
                <a:gd name="T24" fmla="*/ 1590 w 2198"/>
                <a:gd name="T25" fmla="*/ 1588 h 2678"/>
                <a:gd name="T26" fmla="*/ 1448 w 2198"/>
                <a:gd name="T27" fmla="*/ 1734 h 2678"/>
                <a:gd name="T28" fmla="*/ 1478 w 2198"/>
                <a:gd name="T29" fmla="*/ 1829 h 2678"/>
                <a:gd name="T30" fmla="*/ 1535 w 2198"/>
                <a:gd name="T31" fmla="*/ 1925 h 2678"/>
                <a:gd name="T32" fmla="*/ 1627 w 2198"/>
                <a:gd name="T33" fmla="*/ 2016 h 2678"/>
                <a:gd name="T34" fmla="*/ 1763 w 2198"/>
                <a:gd name="T35" fmla="*/ 2094 h 2678"/>
                <a:gd name="T36" fmla="*/ 1892 w 2198"/>
                <a:gd name="T37" fmla="*/ 2141 h 2678"/>
                <a:gd name="T38" fmla="*/ 2039 w 2198"/>
                <a:gd name="T39" fmla="*/ 2184 h 2678"/>
                <a:gd name="T40" fmla="*/ 2167 w 2198"/>
                <a:gd name="T41" fmla="*/ 2228 h 2678"/>
                <a:gd name="T42" fmla="*/ 2090 w 2198"/>
                <a:gd name="T43" fmla="*/ 2344 h 2678"/>
                <a:gd name="T44" fmla="*/ 1892 w 2198"/>
                <a:gd name="T45" fmla="*/ 2474 h 2678"/>
                <a:gd name="T46" fmla="*/ 1665 w 2198"/>
                <a:gd name="T47" fmla="*/ 2574 h 2678"/>
                <a:gd name="T48" fmla="*/ 1421 w 2198"/>
                <a:gd name="T49" fmla="*/ 2644 h 2678"/>
                <a:gd name="T50" fmla="*/ 1178 w 2198"/>
                <a:gd name="T51" fmla="*/ 2675 h 2678"/>
                <a:gd name="T52" fmla="*/ 1093 w 2198"/>
                <a:gd name="T53" fmla="*/ 2677 h 2678"/>
                <a:gd name="T54" fmla="*/ 852 w 2198"/>
                <a:gd name="T55" fmla="*/ 2657 h 2678"/>
                <a:gd name="T56" fmla="*/ 610 w 2198"/>
                <a:gd name="T57" fmla="*/ 2600 h 2678"/>
                <a:gd name="T58" fmla="*/ 377 w 2198"/>
                <a:gd name="T59" fmla="*/ 2510 h 2678"/>
                <a:gd name="T60" fmla="*/ 170 w 2198"/>
                <a:gd name="T61" fmla="*/ 2389 h 2678"/>
                <a:gd name="T62" fmla="*/ 0 w 2198"/>
                <a:gd name="T63" fmla="*/ 2242 h 2678"/>
                <a:gd name="T64" fmla="*/ 112 w 2198"/>
                <a:gd name="T65" fmla="*/ 2199 h 2678"/>
                <a:gd name="T66" fmla="*/ 257 w 2198"/>
                <a:gd name="T67" fmla="*/ 2155 h 2678"/>
                <a:gd name="T68" fmla="*/ 396 w 2198"/>
                <a:gd name="T69" fmla="*/ 2110 h 2678"/>
                <a:gd name="T70" fmla="*/ 534 w 2198"/>
                <a:gd name="T71" fmla="*/ 2042 h 2678"/>
                <a:gd name="T72" fmla="*/ 644 w 2198"/>
                <a:gd name="T73" fmla="*/ 1950 h 2678"/>
                <a:gd name="T74" fmla="*/ 711 w 2198"/>
                <a:gd name="T75" fmla="*/ 1850 h 2678"/>
                <a:gd name="T76" fmla="*/ 746 w 2198"/>
                <a:gd name="T77" fmla="*/ 1749 h 2678"/>
                <a:gd name="T78" fmla="*/ 658 w 2198"/>
                <a:gd name="T79" fmla="*/ 1620 h 2678"/>
                <a:gd name="T80" fmla="*/ 538 w 2198"/>
                <a:gd name="T81" fmla="*/ 1446 h 2678"/>
                <a:gd name="T82" fmla="*/ 446 w 2198"/>
                <a:gd name="T83" fmla="*/ 1246 h 2678"/>
                <a:gd name="T84" fmla="*/ 358 w 2198"/>
                <a:gd name="T85" fmla="*/ 1129 h 2678"/>
                <a:gd name="T86" fmla="*/ 307 w 2198"/>
                <a:gd name="T87" fmla="*/ 1013 h 2678"/>
                <a:gd name="T88" fmla="*/ 300 w 2198"/>
                <a:gd name="T89" fmla="*/ 912 h 2678"/>
                <a:gd name="T90" fmla="*/ 333 w 2198"/>
                <a:gd name="T91" fmla="*/ 838 h 2678"/>
                <a:gd name="T92" fmla="*/ 381 w 2198"/>
                <a:gd name="T93" fmla="*/ 731 h 2678"/>
                <a:gd name="T94" fmla="*/ 429 w 2198"/>
                <a:gd name="T95" fmla="*/ 523 h 2678"/>
                <a:gd name="T96" fmla="*/ 520 w 2198"/>
                <a:gd name="T97" fmla="*/ 340 h 2678"/>
                <a:gd name="T98" fmla="*/ 647 w 2198"/>
                <a:gd name="T99" fmla="*/ 190 h 2678"/>
                <a:gd name="T100" fmla="*/ 802 w 2198"/>
                <a:gd name="T101" fmla="*/ 79 h 2678"/>
                <a:gd name="T102" fmla="*/ 979 w 2198"/>
                <a:gd name="T103" fmla="*/ 14 h 2678"/>
                <a:gd name="T104" fmla="*/ 1111 w 2198"/>
                <a:gd name="T105" fmla="*/ 0 h 2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198" h="2678">
                  <a:moveTo>
                    <a:pt x="1111" y="0"/>
                  </a:moveTo>
                  <a:lnTo>
                    <a:pt x="1115" y="1"/>
                  </a:lnTo>
                  <a:lnTo>
                    <a:pt x="1120" y="1"/>
                  </a:lnTo>
                  <a:lnTo>
                    <a:pt x="1186" y="5"/>
                  </a:lnTo>
                  <a:lnTo>
                    <a:pt x="1249" y="16"/>
                  </a:lnTo>
                  <a:lnTo>
                    <a:pt x="1311" y="32"/>
                  </a:lnTo>
                  <a:lnTo>
                    <a:pt x="1371" y="55"/>
                  </a:lnTo>
                  <a:lnTo>
                    <a:pt x="1428" y="82"/>
                  </a:lnTo>
                  <a:lnTo>
                    <a:pt x="1482" y="115"/>
                  </a:lnTo>
                  <a:lnTo>
                    <a:pt x="1534" y="153"/>
                  </a:lnTo>
                  <a:lnTo>
                    <a:pt x="1583" y="197"/>
                  </a:lnTo>
                  <a:lnTo>
                    <a:pt x="1628" y="244"/>
                  </a:lnTo>
                  <a:lnTo>
                    <a:pt x="1670" y="295"/>
                  </a:lnTo>
                  <a:lnTo>
                    <a:pt x="1708" y="350"/>
                  </a:lnTo>
                  <a:lnTo>
                    <a:pt x="1742" y="409"/>
                  </a:lnTo>
                  <a:lnTo>
                    <a:pt x="1772" y="471"/>
                  </a:lnTo>
                  <a:lnTo>
                    <a:pt x="1797" y="536"/>
                  </a:lnTo>
                  <a:lnTo>
                    <a:pt x="1817" y="604"/>
                  </a:lnTo>
                  <a:lnTo>
                    <a:pt x="1832" y="675"/>
                  </a:lnTo>
                  <a:lnTo>
                    <a:pt x="1842" y="747"/>
                  </a:lnTo>
                  <a:lnTo>
                    <a:pt x="1848" y="822"/>
                  </a:lnTo>
                  <a:lnTo>
                    <a:pt x="1866" y="840"/>
                  </a:lnTo>
                  <a:lnTo>
                    <a:pt x="1881" y="861"/>
                  </a:lnTo>
                  <a:lnTo>
                    <a:pt x="1892" y="885"/>
                  </a:lnTo>
                  <a:lnTo>
                    <a:pt x="1898" y="912"/>
                  </a:lnTo>
                  <a:lnTo>
                    <a:pt x="1901" y="942"/>
                  </a:lnTo>
                  <a:lnTo>
                    <a:pt x="1898" y="977"/>
                  </a:lnTo>
                  <a:lnTo>
                    <a:pt x="1891" y="1011"/>
                  </a:lnTo>
                  <a:lnTo>
                    <a:pt x="1879" y="1048"/>
                  </a:lnTo>
                  <a:lnTo>
                    <a:pt x="1864" y="1086"/>
                  </a:lnTo>
                  <a:lnTo>
                    <a:pt x="1843" y="1124"/>
                  </a:lnTo>
                  <a:lnTo>
                    <a:pt x="1819" y="1162"/>
                  </a:lnTo>
                  <a:lnTo>
                    <a:pt x="1791" y="1199"/>
                  </a:lnTo>
                  <a:lnTo>
                    <a:pt x="1766" y="1270"/>
                  </a:lnTo>
                  <a:lnTo>
                    <a:pt x="1738" y="1338"/>
                  </a:lnTo>
                  <a:lnTo>
                    <a:pt x="1707" y="1405"/>
                  </a:lnTo>
                  <a:lnTo>
                    <a:pt x="1671" y="1469"/>
                  </a:lnTo>
                  <a:lnTo>
                    <a:pt x="1632" y="1530"/>
                  </a:lnTo>
                  <a:lnTo>
                    <a:pt x="1590" y="1588"/>
                  </a:lnTo>
                  <a:lnTo>
                    <a:pt x="1546" y="1641"/>
                  </a:lnTo>
                  <a:lnTo>
                    <a:pt x="1498" y="1690"/>
                  </a:lnTo>
                  <a:lnTo>
                    <a:pt x="1448" y="1734"/>
                  </a:lnTo>
                  <a:lnTo>
                    <a:pt x="1455" y="1765"/>
                  </a:lnTo>
                  <a:lnTo>
                    <a:pt x="1465" y="1797"/>
                  </a:lnTo>
                  <a:lnTo>
                    <a:pt x="1478" y="1829"/>
                  </a:lnTo>
                  <a:lnTo>
                    <a:pt x="1493" y="1862"/>
                  </a:lnTo>
                  <a:lnTo>
                    <a:pt x="1512" y="1894"/>
                  </a:lnTo>
                  <a:lnTo>
                    <a:pt x="1535" y="1925"/>
                  </a:lnTo>
                  <a:lnTo>
                    <a:pt x="1561" y="1957"/>
                  </a:lnTo>
                  <a:lnTo>
                    <a:pt x="1592" y="1987"/>
                  </a:lnTo>
                  <a:lnTo>
                    <a:pt x="1627" y="2016"/>
                  </a:lnTo>
                  <a:lnTo>
                    <a:pt x="1667" y="2044"/>
                  </a:lnTo>
                  <a:lnTo>
                    <a:pt x="1712" y="2070"/>
                  </a:lnTo>
                  <a:lnTo>
                    <a:pt x="1763" y="2094"/>
                  </a:lnTo>
                  <a:lnTo>
                    <a:pt x="1802" y="2110"/>
                  </a:lnTo>
                  <a:lnTo>
                    <a:pt x="1845" y="2125"/>
                  </a:lnTo>
                  <a:lnTo>
                    <a:pt x="1892" y="2141"/>
                  </a:lnTo>
                  <a:lnTo>
                    <a:pt x="1941" y="2155"/>
                  </a:lnTo>
                  <a:lnTo>
                    <a:pt x="1990" y="2170"/>
                  </a:lnTo>
                  <a:lnTo>
                    <a:pt x="2039" y="2184"/>
                  </a:lnTo>
                  <a:lnTo>
                    <a:pt x="2086" y="2199"/>
                  </a:lnTo>
                  <a:lnTo>
                    <a:pt x="2129" y="2213"/>
                  </a:lnTo>
                  <a:lnTo>
                    <a:pt x="2167" y="2228"/>
                  </a:lnTo>
                  <a:lnTo>
                    <a:pt x="2198" y="2242"/>
                  </a:lnTo>
                  <a:lnTo>
                    <a:pt x="2147" y="2294"/>
                  </a:lnTo>
                  <a:lnTo>
                    <a:pt x="2090" y="2344"/>
                  </a:lnTo>
                  <a:lnTo>
                    <a:pt x="2028" y="2391"/>
                  </a:lnTo>
                  <a:lnTo>
                    <a:pt x="1961" y="2434"/>
                  </a:lnTo>
                  <a:lnTo>
                    <a:pt x="1892" y="2474"/>
                  </a:lnTo>
                  <a:lnTo>
                    <a:pt x="1818" y="2511"/>
                  </a:lnTo>
                  <a:lnTo>
                    <a:pt x="1743" y="2545"/>
                  </a:lnTo>
                  <a:lnTo>
                    <a:pt x="1665" y="2574"/>
                  </a:lnTo>
                  <a:lnTo>
                    <a:pt x="1585" y="2601"/>
                  </a:lnTo>
                  <a:lnTo>
                    <a:pt x="1504" y="2624"/>
                  </a:lnTo>
                  <a:lnTo>
                    <a:pt x="1421" y="2644"/>
                  </a:lnTo>
                  <a:lnTo>
                    <a:pt x="1340" y="2658"/>
                  </a:lnTo>
                  <a:lnTo>
                    <a:pt x="1259" y="2669"/>
                  </a:lnTo>
                  <a:lnTo>
                    <a:pt x="1178" y="2675"/>
                  </a:lnTo>
                  <a:lnTo>
                    <a:pt x="1099" y="2678"/>
                  </a:lnTo>
                  <a:lnTo>
                    <a:pt x="1098" y="2677"/>
                  </a:lnTo>
                  <a:lnTo>
                    <a:pt x="1093" y="2677"/>
                  </a:lnTo>
                  <a:lnTo>
                    <a:pt x="1014" y="2675"/>
                  </a:lnTo>
                  <a:lnTo>
                    <a:pt x="933" y="2669"/>
                  </a:lnTo>
                  <a:lnTo>
                    <a:pt x="852" y="2657"/>
                  </a:lnTo>
                  <a:lnTo>
                    <a:pt x="771" y="2642"/>
                  </a:lnTo>
                  <a:lnTo>
                    <a:pt x="690" y="2623"/>
                  </a:lnTo>
                  <a:lnTo>
                    <a:pt x="610" y="2600"/>
                  </a:lnTo>
                  <a:lnTo>
                    <a:pt x="530" y="2573"/>
                  </a:lnTo>
                  <a:lnTo>
                    <a:pt x="453" y="2543"/>
                  </a:lnTo>
                  <a:lnTo>
                    <a:pt x="377" y="2510"/>
                  </a:lnTo>
                  <a:lnTo>
                    <a:pt x="305" y="2473"/>
                  </a:lnTo>
                  <a:lnTo>
                    <a:pt x="235" y="2433"/>
                  </a:lnTo>
                  <a:lnTo>
                    <a:pt x="170" y="2389"/>
                  </a:lnTo>
                  <a:lnTo>
                    <a:pt x="108" y="2343"/>
                  </a:lnTo>
                  <a:lnTo>
                    <a:pt x="51" y="2294"/>
                  </a:lnTo>
                  <a:lnTo>
                    <a:pt x="0" y="2242"/>
                  </a:lnTo>
                  <a:lnTo>
                    <a:pt x="31" y="2228"/>
                  </a:lnTo>
                  <a:lnTo>
                    <a:pt x="69" y="2213"/>
                  </a:lnTo>
                  <a:lnTo>
                    <a:pt x="112" y="2199"/>
                  </a:lnTo>
                  <a:lnTo>
                    <a:pt x="159" y="2184"/>
                  </a:lnTo>
                  <a:lnTo>
                    <a:pt x="208" y="2170"/>
                  </a:lnTo>
                  <a:lnTo>
                    <a:pt x="257" y="2155"/>
                  </a:lnTo>
                  <a:lnTo>
                    <a:pt x="306" y="2141"/>
                  </a:lnTo>
                  <a:lnTo>
                    <a:pt x="353" y="2125"/>
                  </a:lnTo>
                  <a:lnTo>
                    <a:pt x="396" y="2110"/>
                  </a:lnTo>
                  <a:lnTo>
                    <a:pt x="435" y="2094"/>
                  </a:lnTo>
                  <a:lnTo>
                    <a:pt x="488" y="2069"/>
                  </a:lnTo>
                  <a:lnTo>
                    <a:pt x="534" y="2042"/>
                  </a:lnTo>
                  <a:lnTo>
                    <a:pt x="575" y="2013"/>
                  </a:lnTo>
                  <a:lnTo>
                    <a:pt x="612" y="1982"/>
                  </a:lnTo>
                  <a:lnTo>
                    <a:pt x="644" y="1950"/>
                  </a:lnTo>
                  <a:lnTo>
                    <a:pt x="670" y="1917"/>
                  </a:lnTo>
                  <a:lnTo>
                    <a:pt x="692" y="1883"/>
                  </a:lnTo>
                  <a:lnTo>
                    <a:pt x="711" y="1850"/>
                  </a:lnTo>
                  <a:lnTo>
                    <a:pt x="726" y="1816"/>
                  </a:lnTo>
                  <a:lnTo>
                    <a:pt x="738" y="1783"/>
                  </a:lnTo>
                  <a:lnTo>
                    <a:pt x="746" y="1749"/>
                  </a:lnTo>
                  <a:lnTo>
                    <a:pt x="753" y="1717"/>
                  </a:lnTo>
                  <a:lnTo>
                    <a:pt x="704" y="1671"/>
                  </a:lnTo>
                  <a:lnTo>
                    <a:pt x="658" y="1620"/>
                  </a:lnTo>
                  <a:lnTo>
                    <a:pt x="614" y="1566"/>
                  </a:lnTo>
                  <a:lnTo>
                    <a:pt x="574" y="1508"/>
                  </a:lnTo>
                  <a:lnTo>
                    <a:pt x="538" y="1446"/>
                  </a:lnTo>
                  <a:lnTo>
                    <a:pt x="503" y="1381"/>
                  </a:lnTo>
                  <a:lnTo>
                    <a:pt x="473" y="1314"/>
                  </a:lnTo>
                  <a:lnTo>
                    <a:pt x="446" y="1246"/>
                  </a:lnTo>
                  <a:lnTo>
                    <a:pt x="413" y="1207"/>
                  </a:lnTo>
                  <a:lnTo>
                    <a:pt x="384" y="1168"/>
                  </a:lnTo>
                  <a:lnTo>
                    <a:pt x="358" y="1129"/>
                  </a:lnTo>
                  <a:lnTo>
                    <a:pt x="336" y="1090"/>
                  </a:lnTo>
                  <a:lnTo>
                    <a:pt x="320" y="1051"/>
                  </a:lnTo>
                  <a:lnTo>
                    <a:pt x="307" y="1013"/>
                  </a:lnTo>
                  <a:lnTo>
                    <a:pt x="300" y="977"/>
                  </a:lnTo>
                  <a:lnTo>
                    <a:pt x="297" y="942"/>
                  </a:lnTo>
                  <a:lnTo>
                    <a:pt x="300" y="912"/>
                  </a:lnTo>
                  <a:lnTo>
                    <a:pt x="307" y="884"/>
                  </a:lnTo>
                  <a:lnTo>
                    <a:pt x="318" y="860"/>
                  </a:lnTo>
                  <a:lnTo>
                    <a:pt x="333" y="838"/>
                  </a:lnTo>
                  <a:lnTo>
                    <a:pt x="353" y="820"/>
                  </a:lnTo>
                  <a:lnTo>
                    <a:pt x="375" y="805"/>
                  </a:lnTo>
                  <a:lnTo>
                    <a:pt x="381" y="731"/>
                  </a:lnTo>
                  <a:lnTo>
                    <a:pt x="393" y="660"/>
                  </a:lnTo>
                  <a:lnTo>
                    <a:pt x="409" y="590"/>
                  </a:lnTo>
                  <a:lnTo>
                    <a:pt x="429" y="523"/>
                  </a:lnTo>
                  <a:lnTo>
                    <a:pt x="455" y="459"/>
                  </a:lnTo>
                  <a:lnTo>
                    <a:pt x="486" y="398"/>
                  </a:lnTo>
                  <a:lnTo>
                    <a:pt x="520" y="340"/>
                  </a:lnTo>
                  <a:lnTo>
                    <a:pt x="559" y="286"/>
                  </a:lnTo>
                  <a:lnTo>
                    <a:pt x="601" y="236"/>
                  </a:lnTo>
                  <a:lnTo>
                    <a:pt x="647" y="190"/>
                  </a:lnTo>
                  <a:lnTo>
                    <a:pt x="695" y="148"/>
                  </a:lnTo>
                  <a:lnTo>
                    <a:pt x="746" y="111"/>
                  </a:lnTo>
                  <a:lnTo>
                    <a:pt x="802" y="79"/>
                  </a:lnTo>
                  <a:lnTo>
                    <a:pt x="859" y="52"/>
                  </a:lnTo>
                  <a:lnTo>
                    <a:pt x="917" y="30"/>
                  </a:lnTo>
                  <a:lnTo>
                    <a:pt x="979" y="14"/>
                  </a:lnTo>
                  <a:lnTo>
                    <a:pt x="1043" y="4"/>
                  </a:lnTo>
                  <a:lnTo>
                    <a:pt x="1108" y="1"/>
                  </a:lnTo>
                  <a:lnTo>
                    <a:pt x="1111" y="0"/>
                  </a:lnTo>
                  <a:close/>
                </a:path>
              </a:pathLst>
            </a:custGeom>
            <a:solidFill>
              <a:srgbClr val="FFFFFF"/>
            </a:solidFill>
            <a:ln w="0">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latin typeface="Arial"/>
                <a:ea typeface="+mn-ea"/>
                <a:cs typeface="+mn-cs"/>
              </a:endParaRPr>
            </a:p>
          </p:txBody>
        </p:sp>
      </p:grpSp>
      <p:sp>
        <p:nvSpPr>
          <p:cNvPr id="6" name="Rectangle 5">
            <a:extLst>
              <a:ext uri="{FF2B5EF4-FFF2-40B4-BE49-F238E27FC236}">
                <a16:creationId xmlns:a16="http://schemas.microsoft.com/office/drawing/2014/main" id="{595B0C0C-0D0C-453F-4ED9-C64FDA764E91}"/>
              </a:ext>
            </a:extLst>
          </p:cNvPr>
          <p:cNvSpPr/>
          <p:nvPr/>
        </p:nvSpPr>
        <p:spPr>
          <a:xfrm>
            <a:off x="3207353" y="365332"/>
            <a:ext cx="4005210" cy="369332"/>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660A21"/>
                </a:solidFill>
                <a:effectLst/>
                <a:uLnTx/>
                <a:uFillTx/>
                <a:latin typeface="Arial"/>
                <a:ea typeface="+mn-ea"/>
                <a:cs typeface="+mn-cs"/>
              </a:rPr>
              <a:t>Profil – 1</a:t>
            </a:r>
            <a:r>
              <a:rPr lang="en-US" b="1" kern="0" dirty="0">
                <a:solidFill>
                  <a:srgbClr val="660A21"/>
                </a:solidFill>
                <a:latin typeface="Arial"/>
              </a:rPr>
              <a:t> an 7 </a:t>
            </a:r>
            <a:r>
              <a:rPr lang="en-US" b="1" kern="0" dirty="0" err="1">
                <a:solidFill>
                  <a:srgbClr val="660A21"/>
                </a:solidFill>
                <a:latin typeface="Arial"/>
              </a:rPr>
              <a:t>mois</a:t>
            </a:r>
            <a:r>
              <a:rPr lang="en-US" b="1" kern="0" dirty="0">
                <a:solidFill>
                  <a:srgbClr val="660A21"/>
                </a:solidFill>
                <a:latin typeface="Arial"/>
              </a:rPr>
              <a:t> </a:t>
            </a:r>
            <a:r>
              <a:rPr kumimoji="0" lang="en-US" sz="1800" b="1" i="0" u="none" strike="noStrike" kern="0" cap="none" spc="0" normalizeH="0" baseline="0" noProof="0" dirty="0" err="1">
                <a:ln>
                  <a:noFill/>
                </a:ln>
                <a:solidFill>
                  <a:srgbClr val="660A21"/>
                </a:solidFill>
                <a:effectLst/>
                <a:uLnTx/>
                <a:uFillTx/>
                <a:latin typeface="Arial"/>
                <a:ea typeface="+mn-ea"/>
                <a:cs typeface="+mn-cs"/>
              </a:rPr>
              <a:t>d’expériences</a:t>
            </a:r>
            <a:endParaRPr kumimoji="0" lang="en-US" sz="1800" b="1" i="0" u="none" strike="noStrike" kern="0" cap="none" spc="0" normalizeH="0" baseline="0" noProof="0" dirty="0">
              <a:ln>
                <a:noFill/>
              </a:ln>
              <a:solidFill>
                <a:srgbClr val="660A21"/>
              </a:solidFill>
              <a:effectLst/>
              <a:uLnTx/>
              <a:uFillTx/>
              <a:latin typeface="Arial"/>
              <a:ea typeface="+mn-ea"/>
              <a:cs typeface="+mn-cs"/>
            </a:endParaRPr>
          </a:p>
        </p:txBody>
      </p:sp>
      <p:sp>
        <p:nvSpPr>
          <p:cNvPr id="7" name="Rectangle 6">
            <a:extLst>
              <a:ext uri="{FF2B5EF4-FFF2-40B4-BE49-F238E27FC236}">
                <a16:creationId xmlns:a16="http://schemas.microsoft.com/office/drawing/2014/main" id="{57ABAB95-F217-7CA0-4F3E-CC2A98A2BBC6}"/>
              </a:ext>
            </a:extLst>
          </p:cNvPr>
          <p:cNvSpPr/>
          <p:nvPr/>
        </p:nvSpPr>
        <p:spPr>
          <a:xfrm>
            <a:off x="2755145" y="1938694"/>
            <a:ext cx="7341876" cy="3892939"/>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a:ea typeface="+mn-ea"/>
              <a:cs typeface="+mn-cs"/>
            </a:endParaRPr>
          </a:p>
        </p:txBody>
      </p:sp>
      <p:sp>
        <p:nvSpPr>
          <p:cNvPr id="9" name="Rectangle 8">
            <a:extLst>
              <a:ext uri="{FF2B5EF4-FFF2-40B4-BE49-F238E27FC236}">
                <a16:creationId xmlns:a16="http://schemas.microsoft.com/office/drawing/2014/main" id="{D7368E54-A661-E4F8-F73F-8700FF9651C1}"/>
              </a:ext>
            </a:extLst>
          </p:cNvPr>
          <p:cNvSpPr/>
          <p:nvPr/>
        </p:nvSpPr>
        <p:spPr>
          <a:xfrm>
            <a:off x="5729984" y="3960912"/>
            <a:ext cx="2556000" cy="368943"/>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a:ea typeface="+mn-ea"/>
              <a:cs typeface="+mn-cs"/>
            </a:endParaRPr>
          </a:p>
        </p:txBody>
      </p:sp>
      <p:sp>
        <p:nvSpPr>
          <p:cNvPr id="10" name="Rectangle 9">
            <a:extLst>
              <a:ext uri="{FF2B5EF4-FFF2-40B4-BE49-F238E27FC236}">
                <a16:creationId xmlns:a16="http://schemas.microsoft.com/office/drawing/2014/main" id="{E56575E4-23C9-B471-B816-C9BF3F0766B8}"/>
              </a:ext>
            </a:extLst>
          </p:cNvPr>
          <p:cNvSpPr/>
          <p:nvPr/>
        </p:nvSpPr>
        <p:spPr>
          <a:xfrm>
            <a:off x="2881795" y="2074041"/>
            <a:ext cx="7205551" cy="3677930"/>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a:defRPr/>
            </a:pPr>
            <a:endParaRPr lang="en-US" sz="1200" b="1" kern="0" dirty="0">
              <a:solidFill>
                <a:srgbClr val="FFFFFF">
                  <a:lumMod val="50000"/>
                </a:srgbClr>
              </a:solidFill>
            </a:endParaRPr>
          </a:p>
          <a:p>
            <a:pPr>
              <a:defRPr/>
            </a:pPr>
            <a:r>
              <a:rPr lang="fr-FR" sz="1300" b="1" kern="0" dirty="0">
                <a:solidFill>
                  <a:srgbClr val="FFFFFF">
                    <a:lumMod val="50000"/>
                  </a:srgbClr>
                </a:solidFill>
                <a:latin typeface="Arial" panose="020B0604020202020204" pitchFamily="34" charset="0"/>
                <a:cs typeface="Arial" panose="020B0604020202020204" pitchFamily="34" charset="0"/>
              </a:rPr>
              <a:t>Développeuse d’applications – </a:t>
            </a:r>
            <a:r>
              <a:rPr lang="fr-FR" sz="1300" b="1" kern="0" dirty="0" err="1">
                <a:solidFill>
                  <a:srgbClr val="FFFFFF">
                    <a:lumMod val="50000"/>
                  </a:srgbClr>
                </a:solidFill>
                <a:latin typeface="Arial" panose="020B0604020202020204" pitchFamily="34" charset="0"/>
                <a:cs typeface="Arial" panose="020B0604020202020204" pitchFamily="34" charset="0"/>
              </a:rPr>
              <a:t>digi.job</a:t>
            </a:r>
            <a:r>
              <a:rPr lang="fr-FR" sz="1300" b="1" kern="0" dirty="0">
                <a:solidFill>
                  <a:srgbClr val="FFFFFF">
                    <a:lumMod val="50000"/>
                  </a:srgbClr>
                </a:solidFill>
                <a:latin typeface="Arial" panose="020B0604020202020204" pitchFamily="34" charset="0"/>
                <a:cs typeface="Arial" panose="020B0604020202020204" pitchFamily="34" charset="0"/>
              </a:rPr>
              <a:t>, Lomé </a:t>
            </a:r>
            <a:r>
              <a:rPr lang="fr-FR" sz="1300" kern="0" dirty="0">
                <a:solidFill>
                  <a:srgbClr val="FFFFFF">
                    <a:lumMod val="50000"/>
                  </a:srgbClr>
                </a:solidFill>
                <a:latin typeface="Arial" panose="020B0604020202020204" pitchFamily="34" charset="0"/>
                <a:cs typeface="Arial" panose="020B0604020202020204" pitchFamily="34" charset="0"/>
              </a:rPr>
              <a:t>: depuis </a:t>
            </a:r>
            <a:r>
              <a:rPr lang="fr-FR" sz="1300" kern="0" dirty="0" err="1">
                <a:solidFill>
                  <a:srgbClr val="FFFFFF">
                    <a:lumMod val="50000"/>
                  </a:srgbClr>
                </a:solidFill>
                <a:latin typeface="Arial" panose="020B0604020202020204" pitchFamily="34" charset="0"/>
                <a:cs typeface="Arial" panose="020B0604020202020204" pitchFamily="34" charset="0"/>
              </a:rPr>
              <a:t>oct</a:t>
            </a:r>
            <a:r>
              <a:rPr lang="fr-FR" sz="1300" kern="0" dirty="0">
                <a:solidFill>
                  <a:srgbClr val="FFFFFF">
                    <a:lumMod val="50000"/>
                  </a:srgbClr>
                </a:solidFill>
                <a:latin typeface="Arial" panose="020B0604020202020204" pitchFamily="34" charset="0"/>
                <a:cs typeface="Arial" panose="020B0604020202020204" pitchFamily="34" charset="0"/>
              </a:rPr>
              <a:t> 2024</a:t>
            </a:r>
          </a:p>
          <a:p>
            <a:pPr>
              <a:defRPr/>
            </a:pPr>
            <a:endParaRPr lang="en-US" sz="1300" b="1" kern="0" dirty="0">
              <a:solidFill>
                <a:srgbClr val="FFFFFF">
                  <a:lumMod val="50000"/>
                </a:srgbClr>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defRPr/>
            </a:pPr>
            <a:r>
              <a:rPr lang="fr-FR" sz="1200" kern="0" dirty="0">
                <a:solidFill>
                  <a:srgbClr val="FFFFFF">
                    <a:lumMod val="50000"/>
                  </a:srgbClr>
                </a:solidFill>
                <a:latin typeface="Arial" panose="020B0604020202020204" pitchFamily="34" charset="0"/>
                <a:cs typeface="Arial" panose="020B0604020202020204" pitchFamily="34" charset="0"/>
              </a:rPr>
              <a:t>Collecte de données au sein des administrations publiques </a:t>
            </a:r>
          </a:p>
          <a:p>
            <a:pPr marL="171450" indent="-171450">
              <a:buFont typeface="Arial" panose="020B0604020202020204" pitchFamily="34" charset="0"/>
              <a:buChar char="•"/>
              <a:defRPr/>
            </a:pPr>
            <a:r>
              <a:rPr lang="fr-FR" sz="1200" kern="0" dirty="0">
                <a:solidFill>
                  <a:srgbClr val="FFFFFF">
                    <a:lumMod val="50000"/>
                  </a:srgbClr>
                </a:solidFill>
                <a:latin typeface="Arial" panose="020B0604020202020204" pitchFamily="34" charset="0"/>
                <a:cs typeface="Arial" panose="020B0604020202020204" pitchFamily="34" charset="0"/>
              </a:rPr>
              <a:t>Analyse et conception de cartographies de processus métiers</a:t>
            </a:r>
          </a:p>
          <a:p>
            <a:pPr marL="171450" indent="-171450">
              <a:buFont typeface="Arial" panose="020B0604020202020204" pitchFamily="34" charset="0"/>
              <a:buChar char="•"/>
              <a:defRPr/>
            </a:pPr>
            <a:r>
              <a:rPr lang="fr-FR" sz="1200" kern="0" dirty="0">
                <a:solidFill>
                  <a:srgbClr val="FFFFFF">
                    <a:lumMod val="50000"/>
                  </a:srgbClr>
                </a:solidFill>
                <a:latin typeface="Arial" panose="020B0604020202020204" pitchFamily="34" charset="0"/>
                <a:cs typeface="Arial" panose="020B0604020202020204" pitchFamily="34" charset="0"/>
              </a:rPr>
              <a:t>Aide à la conception des formulaires digitalisés.</a:t>
            </a:r>
          </a:p>
          <a:p>
            <a:pPr marL="171450" indent="-171450">
              <a:buFont typeface="Arial" panose="020B0604020202020204" pitchFamily="34" charset="0"/>
              <a:buChar char="•"/>
              <a:defRPr/>
            </a:pPr>
            <a:r>
              <a:rPr lang="fr-FR" sz="1200" kern="0" dirty="0">
                <a:solidFill>
                  <a:srgbClr val="FFFFFF">
                    <a:lumMod val="50000"/>
                  </a:srgbClr>
                </a:solidFill>
                <a:latin typeface="Arial" panose="020B0604020202020204" pitchFamily="34" charset="0"/>
                <a:cs typeface="Arial" panose="020B0604020202020204" pitchFamily="34" charset="0"/>
              </a:rPr>
              <a:t>Intégration, développement et implémentation des solutions logicielles</a:t>
            </a:r>
          </a:p>
          <a:p>
            <a:pPr>
              <a:defRPr/>
            </a:pPr>
            <a:r>
              <a:rPr lang="fr-FR" sz="1100" i="1" kern="0" dirty="0">
                <a:solidFill>
                  <a:srgbClr val="FFFFFF">
                    <a:lumMod val="50000"/>
                  </a:srgbClr>
                </a:solidFill>
                <a:latin typeface="Arial" panose="020B0604020202020204" pitchFamily="34" charset="0"/>
                <a:cs typeface="Arial" panose="020B0604020202020204" pitchFamily="34" charset="0"/>
              </a:rPr>
              <a:t>Environnement : </a:t>
            </a:r>
            <a:r>
              <a:rPr lang="fr-FR" sz="1100" i="1" kern="0" dirty="0" err="1">
                <a:solidFill>
                  <a:srgbClr val="FFFFFF">
                    <a:lumMod val="50000"/>
                  </a:srgbClr>
                </a:solidFill>
                <a:latin typeface="Arial" panose="020B0604020202020204" pitchFamily="34" charset="0"/>
                <a:cs typeface="Arial" panose="020B0604020202020204" pitchFamily="34" charset="0"/>
              </a:rPr>
              <a:t>Bizagi</a:t>
            </a:r>
            <a:r>
              <a:rPr lang="fr-FR" sz="1100" i="1" kern="0" dirty="0">
                <a:solidFill>
                  <a:srgbClr val="FFFFFF">
                    <a:lumMod val="50000"/>
                  </a:srgbClr>
                </a:solidFill>
                <a:latin typeface="Arial" panose="020B0604020202020204" pitchFamily="34" charset="0"/>
                <a:cs typeface="Arial" panose="020B0604020202020204" pitchFamily="34" charset="0"/>
              </a:rPr>
              <a:t>, Pack office, Javascript, PHP, HTML, CSS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300" b="1" kern="0" dirty="0">
              <a:solidFill>
                <a:srgbClr val="FFFFFF">
                  <a:lumMod val="50000"/>
                </a:srgbClr>
              </a:solidFill>
              <a:latin typeface="Arial" panose="020B0604020202020204" pitchFamily="34" charset="0"/>
              <a:cs typeface="Arial" panose="020B0604020202020204" pitchFamily="34" charset="0"/>
            </a:endParaRPr>
          </a:p>
          <a:p>
            <a:pPr>
              <a:defRPr/>
            </a:pPr>
            <a:r>
              <a:rPr lang="fr-FR" sz="1300" b="1" kern="0" dirty="0">
                <a:solidFill>
                  <a:srgbClr val="FFFFFF">
                    <a:lumMod val="50000"/>
                  </a:srgbClr>
                </a:solidFill>
                <a:latin typeface="Arial" panose="020B0604020202020204" pitchFamily="34" charset="0"/>
                <a:cs typeface="Arial" panose="020B0604020202020204" pitchFamily="34" charset="0"/>
              </a:rPr>
              <a:t>Développeur d’applications – Projet </a:t>
            </a:r>
            <a:r>
              <a:rPr lang="fr-FR" sz="1300" b="1" kern="0" dirty="0" err="1">
                <a:solidFill>
                  <a:srgbClr val="FFFFFF">
                    <a:lumMod val="50000"/>
                  </a:srgbClr>
                </a:solidFill>
                <a:latin typeface="Arial" panose="020B0604020202020204" pitchFamily="34" charset="0"/>
                <a:cs typeface="Arial" panose="020B0604020202020204" pitchFamily="34" charset="0"/>
              </a:rPr>
              <a:t>CleanEarth</a:t>
            </a:r>
            <a:r>
              <a:rPr lang="fr-FR" sz="1300" b="1" kern="0" dirty="0">
                <a:solidFill>
                  <a:srgbClr val="FFFFFF">
                    <a:lumMod val="50000"/>
                  </a:srgbClr>
                </a:solidFill>
                <a:latin typeface="Arial" panose="020B0604020202020204" pitchFamily="34" charset="0"/>
                <a:cs typeface="Arial" panose="020B0604020202020204" pitchFamily="34" charset="0"/>
              </a:rPr>
              <a:t>, Lomé </a:t>
            </a:r>
            <a:r>
              <a:rPr lang="en-US" sz="1300" b="1" kern="0" dirty="0">
                <a:solidFill>
                  <a:srgbClr val="FFFFFF">
                    <a:lumMod val="50000"/>
                  </a:srgbClr>
                </a:solidFill>
                <a:latin typeface="Arial" panose="020B0604020202020204" pitchFamily="34" charset="0"/>
                <a:cs typeface="Arial" panose="020B0604020202020204" pitchFamily="34" charset="0"/>
              </a:rPr>
              <a:t>: </a:t>
            </a:r>
            <a:r>
              <a:rPr lang="en-US" sz="1300" kern="0" dirty="0">
                <a:solidFill>
                  <a:srgbClr val="FFFFFF">
                    <a:lumMod val="50000"/>
                  </a:srgbClr>
                </a:solidFill>
                <a:latin typeface="Arial" panose="020B0604020202020204" pitchFamily="34" charset="0"/>
                <a:cs typeface="Arial" panose="020B0604020202020204" pitchFamily="34" charset="0"/>
              </a:rPr>
              <a:t>mar – </a:t>
            </a:r>
            <a:r>
              <a:rPr lang="en-US" sz="1300" kern="0" dirty="0" err="1">
                <a:solidFill>
                  <a:srgbClr val="FFFFFF">
                    <a:lumMod val="50000"/>
                  </a:srgbClr>
                </a:solidFill>
                <a:latin typeface="Arial" panose="020B0604020202020204" pitchFamily="34" charset="0"/>
                <a:cs typeface="Arial" panose="020B0604020202020204" pitchFamily="34" charset="0"/>
              </a:rPr>
              <a:t>août</a:t>
            </a:r>
            <a:r>
              <a:rPr lang="en-US" sz="1300" kern="0" dirty="0">
                <a:solidFill>
                  <a:srgbClr val="FFFFFF">
                    <a:lumMod val="50000"/>
                  </a:srgbClr>
                </a:solidFill>
                <a:latin typeface="Arial" panose="020B0604020202020204" pitchFamily="34" charset="0"/>
                <a:cs typeface="Arial" panose="020B0604020202020204" pitchFamily="34" charset="0"/>
              </a:rPr>
              <a:t> 2024</a:t>
            </a:r>
          </a:p>
          <a:p>
            <a:pPr>
              <a:defRPr/>
            </a:pPr>
            <a:endParaRPr lang="en-US" sz="1200" kern="0" dirty="0">
              <a:solidFill>
                <a:srgbClr val="FFFFFF">
                  <a:lumMod val="50000"/>
                </a:srgbClr>
              </a:solidFill>
              <a:latin typeface="Arial" panose="020B0604020202020204" pitchFamily="34" charset="0"/>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200" b="0" i="0" u="none" strike="noStrike" kern="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rPr>
              <a:t>Conception d’une application de signalement de dépotoirs sauvages par géolocalisation</a:t>
            </a:r>
          </a:p>
          <a:p>
            <a:pPr marR="0" lvl="0" fontAlgn="auto">
              <a:lnSpc>
                <a:spcPct val="100000"/>
              </a:lnSpc>
              <a:spcBef>
                <a:spcPts val="0"/>
              </a:spcBef>
              <a:spcAft>
                <a:spcPts val="0"/>
              </a:spcAft>
              <a:buClrTx/>
              <a:buSzTx/>
              <a:tabLst/>
              <a:defRPr/>
            </a:pPr>
            <a:r>
              <a:rPr kumimoji="0" lang="nb-NO" sz="1200" b="0" i="1" u="none" strike="noStrike" kern="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rPr>
              <a:t> </a:t>
            </a:r>
            <a:r>
              <a:rPr kumimoji="0" lang="nb-NO" sz="1100" b="0" i="1" u="none" strike="noStrike" kern="0" cap="none" spc="0" normalizeH="0" baseline="0" noProof="0" dirty="0">
                <a:ln>
                  <a:noFill/>
                </a:ln>
                <a:solidFill>
                  <a:srgbClr val="FFFFFF">
                    <a:lumMod val="50000"/>
                  </a:srgbClr>
                </a:solidFill>
                <a:effectLst/>
                <a:uLnTx/>
                <a:uFillTx/>
                <a:latin typeface="Arial" panose="020B0604020202020204" pitchFamily="34" charset="0"/>
                <a:ea typeface="+mn-ea"/>
                <a:cs typeface="Arial" panose="020B0604020202020204" pitchFamily="34" charset="0"/>
              </a:rPr>
              <a:t>Environnement : </a:t>
            </a:r>
            <a:r>
              <a:rPr lang="nb-NO" sz="1100" i="1" kern="0" dirty="0">
                <a:solidFill>
                  <a:srgbClr val="FFFFFF">
                    <a:lumMod val="50000"/>
                  </a:srgbClr>
                </a:solidFill>
                <a:latin typeface="Arial" panose="020B0604020202020204" pitchFamily="34" charset="0"/>
                <a:cs typeface="Arial" panose="020B0604020202020204" pitchFamily="34" charset="0"/>
              </a:rPr>
              <a:t>Java Spring Boot, Vue.js, Flutter, Firebase, MySQL</a:t>
            </a:r>
            <a:endParaRPr lang="fr-FR" sz="1100" i="1" kern="0" dirty="0">
              <a:solidFill>
                <a:srgbClr val="FFFFFF">
                  <a:lumMod val="50000"/>
                </a:srgbClr>
              </a:solidFill>
              <a:latin typeface="Arial" panose="020B0604020202020204" pitchFamily="34" charset="0"/>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fr-FR" sz="1200" kern="0" dirty="0">
              <a:solidFill>
                <a:srgbClr val="FFFFFF">
                  <a:lumMod val="50000"/>
                </a:srgbClr>
              </a:solidFill>
              <a:latin typeface="Arial" panose="020B0604020202020204" pitchFamily="34" charset="0"/>
              <a:cs typeface="Arial" panose="020B0604020202020204" pitchFamily="34" charset="0"/>
            </a:endParaRPr>
          </a:p>
          <a:p>
            <a:pPr>
              <a:defRPr/>
            </a:pPr>
            <a:r>
              <a:rPr lang="fr-FR" sz="1300" b="1" kern="0" dirty="0">
                <a:solidFill>
                  <a:srgbClr val="FFFFFF">
                    <a:lumMod val="50000"/>
                  </a:srgbClr>
                </a:solidFill>
                <a:latin typeface="Arial" panose="020B0604020202020204" pitchFamily="34" charset="0"/>
                <a:cs typeface="Arial" panose="020B0604020202020204" pitchFamily="34" charset="0"/>
              </a:rPr>
              <a:t>Développeur web – KALAMAR, Lomé </a:t>
            </a:r>
            <a:r>
              <a:rPr lang="fr-FR" sz="1300" kern="0" dirty="0">
                <a:solidFill>
                  <a:srgbClr val="FFFFFF">
                    <a:lumMod val="50000"/>
                  </a:srgbClr>
                </a:solidFill>
                <a:latin typeface="Arial" panose="020B0604020202020204" pitchFamily="34" charset="0"/>
                <a:cs typeface="Arial" panose="020B0604020202020204" pitchFamily="34" charset="0"/>
              </a:rPr>
              <a:t>: </a:t>
            </a:r>
            <a:r>
              <a:rPr lang="fr-FR" sz="1300" kern="0" dirty="0" err="1">
                <a:solidFill>
                  <a:srgbClr val="FFFFFF">
                    <a:lumMod val="50000"/>
                  </a:srgbClr>
                </a:solidFill>
                <a:latin typeface="Arial" panose="020B0604020202020204" pitchFamily="34" charset="0"/>
                <a:cs typeface="Arial" panose="020B0604020202020204" pitchFamily="34" charset="0"/>
              </a:rPr>
              <a:t>oct</a:t>
            </a:r>
            <a:r>
              <a:rPr lang="fr-FR" sz="1300" kern="0" dirty="0">
                <a:solidFill>
                  <a:srgbClr val="FFFFFF">
                    <a:lumMod val="50000"/>
                  </a:srgbClr>
                </a:solidFill>
                <a:latin typeface="Arial" panose="020B0604020202020204" pitchFamily="34" charset="0"/>
                <a:cs typeface="Arial" panose="020B0604020202020204" pitchFamily="34" charset="0"/>
              </a:rPr>
              <a:t> 2023 – jan 2024</a:t>
            </a:r>
          </a:p>
          <a:p>
            <a:pPr>
              <a:defRPr/>
            </a:pPr>
            <a:endParaRPr lang="en-US" sz="1300" b="1" kern="0" dirty="0">
              <a:solidFill>
                <a:srgbClr val="FFFFFF">
                  <a:lumMod val="50000"/>
                </a:srgbClr>
              </a:solidFill>
              <a:latin typeface="Arial" panose="020B0604020202020204" pitchFamily="34" charset="0"/>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200" kern="0" dirty="0">
                <a:solidFill>
                  <a:srgbClr val="FFFFFF">
                    <a:lumMod val="50000"/>
                  </a:srgbClr>
                </a:solidFill>
                <a:latin typeface="Arial" panose="020B0604020202020204" pitchFamily="34" charset="0"/>
                <a:cs typeface="Arial" panose="020B0604020202020204" pitchFamily="34" charset="0"/>
              </a:rPr>
              <a:t> Conception d'une solution innovante de prestation de services, visant à améliorer l'efficacité opérationnelle et l'expérience utilisateur</a:t>
            </a:r>
          </a:p>
          <a:p>
            <a:pPr marR="0" lvl="0" algn="l" defTabSz="914400" rtl="0" eaLnBrk="1" fontAlgn="auto" latinLnBrk="0" hangingPunct="1">
              <a:lnSpc>
                <a:spcPct val="100000"/>
              </a:lnSpc>
              <a:spcBef>
                <a:spcPts val="0"/>
              </a:spcBef>
              <a:spcAft>
                <a:spcPts val="0"/>
              </a:spcAft>
              <a:buClrTx/>
              <a:buSzTx/>
              <a:tabLst/>
              <a:defRPr/>
            </a:pPr>
            <a:r>
              <a:rPr lang="fr-FR" sz="1100" i="1" kern="0" dirty="0">
                <a:solidFill>
                  <a:srgbClr val="FFFFFF">
                    <a:lumMod val="50000"/>
                  </a:srgbClr>
                </a:solidFill>
                <a:latin typeface="Arial" panose="020B0604020202020204" pitchFamily="34" charset="0"/>
                <a:cs typeface="Arial" panose="020B0604020202020204" pitchFamily="34" charset="0"/>
              </a:rPr>
              <a:t> Environnement : Django ; HTML, CSS, </a:t>
            </a:r>
            <a:r>
              <a:rPr lang="fr-FR" sz="1100" i="1" kern="0" dirty="0" err="1">
                <a:solidFill>
                  <a:srgbClr val="FFFFFF">
                    <a:lumMod val="50000"/>
                  </a:srgbClr>
                </a:solidFill>
                <a:latin typeface="Arial" panose="020B0604020202020204" pitchFamily="34" charset="0"/>
                <a:cs typeface="Arial" panose="020B0604020202020204" pitchFamily="34" charset="0"/>
              </a:rPr>
              <a:t>Js</a:t>
            </a:r>
            <a:r>
              <a:rPr lang="fr-FR" sz="1100" i="1" kern="0" dirty="0">
                <a:solidFill>
                  <a:srgbClr val="FFFFFF">
                    <a:lumMod val="50000"/>
                  </a:srgbClr>
                </a:solidFill>
                <a:latin typeface="Arial" panose="020B0604020202020204" pitchFamily="34" charset="0"/>
                <a:cs typeface="Arial" panose="020B0604020202020204" pitchFamily="34" charset="0"/>
              </a:rPr>
              <a:t> , </a:t>
            </a:r>
            <a:r>
              <a:rPr lang="fr-FR" sz="1100" i="1" kern="0" dirty="0" err="1">
                <a:solidFill>
                  <a:srgbClr val="FFFFFF">
                    <a:lumMod val="50000"/>
                  </a:srgbClr>
                </a:solidFill>
                <a:latin typeface="Arial" panose="020B0604020202020204" pitchFamily="34" charset="0"/>
                <a:cs typeface="Arial" panose="020B0604020202020204" pitchFamily="34" charset="0"/>
              </a:rPr>
              <a:t>Gitlab</a:t>
            </a:r>
            <a:r>
              <a:rPr lang="fr-FR" sz="1100" i="1" kern="0" dirty="0">
                <a:solidFill>
                  <a:srgbClr val="FFFFFF">
                    <a:lumMod val="50000"/>
                  </a:srgbClr>
                </a:solidFill>
                <a:latin typeface="Arial" panose="020B0604020202020204" pitchFamily="34" charset="0"/>
                <a:cs typeface="Arial" panose="020B0604020202020204" pitchFamily="34" charset="0"/>
              </a:rPr>
              <a:t>, Docker</a:t>
            </a:r>
          </a:p>
        </p:txBody>
      </p:sp>
      <p:sp>
        <p:nvSpPr>
          <p:cNvPr id="11" name="Rectangle 10">
            <a:extLst>
              <a:ext uri="{FF2B5EF4-FFF2-40B4-BE49-F238E27FC236}">
                <a16:creationId xmlns:a16="http://schemas.microsoft.com/office/drawing/2014/main" id="{BB5C961C-59E1-9C91-143E-6FA81D4E3810}"/>
              </a:ext>
            </a:extLst>
          </p:cNvPr>
          <p:cNvSpPr/>
          <p:nvPr/>
        </p:nvSpPr>
        <p:spPr>
          <a:xfrm>
            <a:off x="10496725" y="1375362"/>
            <a:ext cx="151415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CA" sz="1800" b="1" i="0" u="none" strike="noStrike" kern="0" cap="none" spc="0" normalizeH="0" baseline="0" dirty="0">
                <a:ln>
                  <a:noFill/>
                </a:ln>
                <a:solidFill>
                  <a:srgbClr val="660A21"/>
                </a:solidFill>
                <a:effectLst/>
                <a:uLnTx/>
                <a:uFillTx/>
                <a:latin typeface="Arial"/>
                <a:ea typeface="+mn-ea"/>
                <a:cs typeface="+mn-cs"/>
              </a:rPr>
              <a:t>Références</a:t>
            </a:r>
            <a:endParaRPr kumimoji="0" lang="fr-CA" sz="1800" b="0" i="0" u="none" strike="noStrike" kern="1200" cap="none" spc="0" normalizeH="0" baseline="0" dirty="0">
              <a:ln>
                <a:noFill/>
              </a:ln>
              <a:solidFill>
                <a:srgbClr val="660A21"/>
              </a:solidFill>
              <a:effectLst/>
              <a:uLnTx/>
              <a:uFillTx/>
              <a:latin typeface="Arial"/>
              <a:ea typeface="+mn-ea"/>
              <a:cs typeface="+mn-cs"/>
            </a:endParaRPr>
          </a:p>
        </p:txBody>
      </p:sp>
      <p:grpSp>
        <p:nvGrpSpPr>
          <p:cNvPr id="15" name="Group 16">
            <a:extLst>
              <a:ext uri="{FF2B5EF4-FFF2-40B4-BE49-F238E27FC236}">
                <a16:creationId xmlns:a16="http://schemas.microsoft.com/office/drawing/2014/main" id="{49EA2C1D-D474-3DA3-8593-195D7D642DD0}"/>
              </a:ext>
            </a:extLst>
          </p:cNvPr>
          <p:cNvGrpSpPr/>
          <p:nvPr>
            <p:custDataLst>
              <p:tags r:id="rId1"/>
            </p:custDataLst>
          </p:nvPr>
        </p:nvGrpSpPr>
        <p:grpSpPr>
          <a:xfrm>
            <a:off x="2665085" y="1726027"/>
            <a:ext cx="552985" cy="552985"/>
            <a:chOff x="5890641" y="1631738"/>
            <a:chExt cx="552985" cy="552985"/>
          </a:xfrm>
        </p:grpSpPr>
        <p:sp>
          <p:nvSpPr>
            <p:cNvPr id="16" name="Oval 112">
              <a:extLst>
                <a:ext uri="{FF2B5EF4-FFF2-40B4-BE49-F238E27FC236}">
                  <a16:creationId xmlns:a16="http://schemas.microsoft.com/office/drawing/2014/main" id="{A2313757-0531-3651-BB10-D3FF894A5C70}"/>
                </a:ext>
              </a:extLst>
            </p:cNvPr>
            <p:cNvSpPr>
              <a:spLocks noChangeAspect="1"/>
            </p:cNvSpPr>
            <p:nvPr/>
          </p:nvSpPr>
          <p:spPr>
            <a:xfrm>
              <a:off x="5890641" y="1631738"/>
              <a:ext cx="552985" cy="552985"/>
            </a:xfrm>
            <a:prstGeom prst="ellipse">
              <a:avLst/>
            </a:prstGeom>
            <a:solidFill>
              <a:srgbClr val="FF161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17" name="Freeform 81">
              <a:extLst>
                <a:ext uri="{FF2B5EF4-FFF2-40B4-BE49-F238E27FC236}">
                  <a16:creationId xmlns:a16="http://schemas.microsoft.com/office/drawing/2014/main" id="{0D08631C-FB73-646E-E4F5-B19660750CAC}"/>
                </a:ext>
              </a:extLst>
            </p:cNvPr>
            <p:cNvSpPr>
              <a:spLocks noEditPoints="1"/>
            </p:cNvSpPr>
            <p:nvPr/>
          </p:nvSpPr>
          <p:spPr bwMode="auto">
            <a:xfrm>
              <a:off x="5994732" y="1757515"/>
              <a:ext cx="344802" cy="301431"/>
            </a:xfrm>
            <a:custGeom>
              <a:avLst/>
              <a:gdLst>
                <a:gd name="T0" fmla="*/ 669 w 2230"/>
                <a:gd name="T1" fmla="*/ 1004 h 1951"/>
                <a:gd name="T2" fmla="*/ 680 w 2230"/>
                <a:gd name="T3" fmla="*/ 1074 h 1951"/>
                <a:gd name="T4" fmla="*/ 711 w 2230"/>
                <a:gd name="T5" fmla="*/ 1136 h 1951"/>
                <a:gd name="T6" fmla="*/ 760 w 2230"/>
                <a:gd name="T7" fmla="*/ 1183 h 1951"/>
                <a:gd name="T8" fmla="*/ 822 w 2230"/>
                <a:gd name="T9" fmla="*/ 1216 h 1951"/>
                <a:gd name="T10" fmla="*/ 892 w 2230"/>
                <a:gd name="T11" fmla="*/ 1226 h 1951"/>
                <a:gd name="T12" fmla="*/ 1375 w 2230"/>
                <a:gd name="T13" fmla="*/ 1223 h 1951"/>
                <a:gd name="T14" fmla="*/ 1441 w 2230"/>
                <a:gd name="T15" fmla="*/ 1202 h 1951"/>
                <a:gd name="T16" fmla="*/ 1496 w 2230"/>
                <a:gd name="T17" fmla="*/ 1162 h 1951"/>
                <a:gd name="T18" fmla="*/ 1536 w 2230"/>
                <a:gd name="T19" fmla="*/ 1106 h 1951"/>
                <a:gd name="T20" fmla="*/ 1559 w 2230"/>
                <a:gd name="T21" fmla="*/ 1039 h 1951"/>
                <a:gd name="T22" fmla="*/ 1562 w 2230"/>
                <a:gd name="T23" fmla="*/ 892 h 1951"/>
                <a:gd name="T24" fmla="*/ 1338 w 2230"/>
                <a:gd name="T25" fmla="*/ 1004 h 1951"/>
                <a:gd name="T26" fmla="*/ 892 w 2230"/>
                <a:gd name="T27" fmla="*/ 892 h 1951"/>
                <a:gd name="T28" fmla="*/ 781 w 2230"/>
                <a:gd name="T29" fmla="*/ 223 h 1951"/>
                <a:gd name="T30" fmla="*/ 1449 w 2230"/>
                <a:gd name="T31" fmla="*/ 390 h 1951"/>
                <a:gd name="T32" fmla="*/ 781 w 2230"/>
                <a:gd name="T33" fmla="*/ 223 h 1951"/>
                <a:gd name="T34" fmla="*/ 1449 w 2230"/>
                <a:gd name="T35" fmla="*/ 0 h 1951"/>
                <a:gd name="T36" fmla="*/ 1521 w 2230"/>
                <a:gd name="T37" fmla="*/ 10 h 1951"/>
                <a:gd name="T38" fmla="*/ 1581 w 2230"/>
                <a:gd name="T39" fmla="*/ 43 h 1951"/>
                <a:gd name="T40" fmla="*/ 1630 w 2230"/>
                <a:gd name="T41" fmla="*/ 91 h 1951"/>
                <a:gd name="T42" fmla="*/ 1661 w 2230"/>
                <a:gd name="T43" fmla="*/ 152 h 1951"/>
                <a:gd name="T44" fmla="*/ 1673 w 2230"/>
                <a:gd name="T45" fmla="*/ 223 h 1951"/>
                <a:gd name="T46" fmla="*/ 2008 w 2230"/>
                <a:gd name="T47" fmla="*/ 390 h 1951"/>
                <a:gd name="T48" fmla="*/ 2078 w 2230"/>
                <a:gd name="T49" fmla="*/ 401 h 1951"/>
                <a:gd name="T50" fmla="*/ 2139 w 2230"/>
                <a:gd name="T51" fmla="*/ 432 h 1951"/>
                <a:gd name="T52" fmla="*/ 2187 w 2230"/>
                <a:gd name="T53" fmla="*/ 481 h 1951"/>
                <a:gd name="T54" fmla="*/ 2220 w 2230"/>
                <a:gd name="T55" fmla="*/ 543 h 1951"/>
                <a:gd name="T56" fmla="*/ 2230 w 2230"/>
                <a:gd name="T57" fmla="*/ 613 h 1951"/>
                <a:gd name="T58" fmla="*/ 2228 w 2230"/>
                <a:gd name="T59" fmla="*/ 1765 h 1951"/>
                <a:gd name="T60" fmla="*/ 2205 w 2230"/>
                <a:gd name="T61" fmla="*/ 1831 h 1951"/>
                <a:gd name="T62" fmla="*/ 2165 w 2230"/>
                <a:gd name="T63" fmla="*/ 1886 h 1951"/>
                <a:gd name="T64" fmla="*/ 2110 w 2230"/>
                <a:gd name="T65" fmla="*/ 1926 h 1951"/>
                <a:gd name="T66" fmla="*/ 2043 w 2230"/>
                <a:gd name="T67" fmla="*/ 1949 h 1951"/>
                <a:gd name="T68" fmla="*/ 223 w 2230"/>
                <a:gd name="T69" fmla="*/ 1951 h 1951"/>
                <a:gd name="T70" fmla="*/ 152 w 2230"/>
                <a:gd name="T71" fmla="*/ 1940 h 1951"/>
                <a:gd name="T72" fmla="*/ 91 w 2230"/>
                <a:gd name="T73" fmla="*/ 1909 h 1951"/>
                <a:gd name="T74" fmla="*/ 43 w 2230"/>
                <a:gd name="T75" fmla="*/ 1860 h 1951"/>
                <a:gd name="T76" fmla="*/ 10 w 2230"/>
                <a:gd name="T77" fmla="*/ 1799 h 1951"/>
                <a:gd name="T78" fmla="*/ 0 w 2230"/>
                <a:gd name="T79" fmla="*/ 1728 h 1951"/>
                <a:gd name="T80" fmla="*/ 2 w 2230"/>
                <a:gd name="T81" fmla="*/ 576 h 1951"/>
                <a:gd name="T82" fmla="*/ 25 w 2230"/>
                <a:gd name="T83" fmla="*/ 510 h 1951"/>
                <a:gd name="T84" fmla="*/ 65 w 2230"/>
                <a:gd name="T85" fmla="*/ 455 h 1951"/>
                <a:gd name="T86" fmla="*/ 120 w 2230"/>
                <a:gd name="T87" fmla="*/ 415 h 1951"/>
                <a:gd name="T88" fmla="*/ 187 w 2230"/>
                <a:gd name="T89" fmla="*/ 392 h 1951"/>
                <a:gd name="T90" fmla="*/ 557 w 2230"/>
                <a:gd name="T91" fmla="*/ 390 h 1951"/>
                <a:gd name="T92" fmla="*/ 560 w 2230"/>
                <a:gd name="T93" fmla="*/ 187 h 1951"/>
                <a:gd name="T94" fmla="*/ 582 w 2230"/>
                <a:gd name="T95" fmla="*/ 120 h 1951"/>
                <a:gd name="T96" fmla="*/ 623 w 2230"/>
                <a:gd name="T97" fmla="*/ 65 h 1951"/>
                <a:gd name="T98" fmla="*/ 678 w 2230"/>
                <a:gd name="T99" fmla="*/ 25 h 1951"/>
                <a:gd name="T100" fmla="*/ 744 w 2230"/>
                <a:gd name="T101" fmla="*/ 2 h 19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230" h="1951">
                  <a:moveTo>
                    <a:pt x="669" y="892"/>
                  </a:moveTo>
                  <a:lnTo>
                    <a:pt x="669" y="1004"/>
                  </a:lnTo>
                  <a:lnTo>
                    <a:pt x="671" y="1039"/>
                  </a:lnTo>
                  <a:lnTo>
                    <a:pt x="680" y="1074"/>
                  </a:lnTo>
                  <a:lnTo>
                    <a:pt x="694" y="1106"/>
                  </a:lnTo>
                  <a:lnTo>
                    <a:pt x="711" y="1136"/>
                  </a:lnTo>
                  <a:lnTo>
                    <a:pt x="734" y="1162"/>
                  </a:lnTo>
                  <a:lnTo>
                    <a:pt x="760" y="1183"/>
                  </a:lnTo>
                  <a:lnTo>
                    <a:pt x="789" y="1202"/>
                  </a:lnTo>
                  <a:lnTo>
                    <a:pt x="822" y="1216"/>
                  </a:lnTo>
                  <a:lnTo>
                    <a:pt x="855" y="1223"/>
                  </a:lnTo>
                  <a:lnTo>
                    <a:pt x="892" y="1226"/>
                  </a:lnTo>
                  <a:lnTo>
                    <a:pt x="1338" y="1226"/>
                  </a:lnTo>
                  <a:lnTo>
                    <a:pt x="1375" y="1223"/>
                  </a:lnTo>
                  <a:lnTo>
                    <a:pt x="1408" y="1216"/>
                  </a:lnTo>
                  <a:lnTo>
                    <a:pt x="1441" y="1202"/>
                  </a:lnTo>
                  <a:lnTo>
                    <a:pt x="1470" y="1183"/>
                  </a:lnTo>
                  <a:lnTo>
                    <a:pt x="1496" y="1162"/>
                  </a:lnTo>
                  <a:lnTo>
                    <a:pt x="1519" y="1136"/>
                  </a:lnTo>
                  <a:lnTo>
                    <a:pt x="1536" y="1106"/>
                  </a:lnTo>
                  <a:lnTo>
                    <a:pt x="1550" y="1074"/>
                  </a:lnTo>
                  <a:lnTo>
                    <a:pt x="1559" y="1039"/>
                  </a:lnTo>
                  <a:lnTo>
                    <a:pt x="1562" y="1004"/>
                  </a:lnTo>
                  <a:lnTo>
                    <a:pt x="1562" y="892"/>
                  </a:lnTo>
                  <a:lnTo>
                    <a:pt x="1338" y="892"/>
                  </a:lnTo>
                  <a:lnTo>
                    <a:pt x="1338" y="1004"/>
                  </a:lnTo>
                  <a:lnTo>
                    <a:pt x="892" y="1004"/>
                  </a:lnTo>
                  <a:lnTo>
                    <a:pt x="892" y="892"/>
                  </a:lnTo>
                  <a:lnTo>
                    <a:pt x="669" y="892"/>
                  </a:lnTo>
                  <a:close/>
                  <a:moveTo>
                    <a:pt x="781" y="223"/>
                  </a:moveTo>
                  <a:lnTo>
                    <a:pt x="781" y="390"/>
                  </a:lnTo>
                  <a:lnTo>
                    <a:pt x="1449" y="390"/>
                  </a:lnTo>
                  <a:lnTo>
                    <a:pt x="1449" y="223"/>
                  </a:lnTo>
                  <a:lnTo>
                    <a:pt x="781" y="223"/>
                  </a:lnTo>
                  <a:close/>
                  <a:moveTo>
                    <a:pt x="781" y="0"/>
                  </a:moveTo>
                  <a:lnTo>
                    <a:pt x="1449" y="0"/>
                  </a:lnTo>
                  <a:lnTo>
                    <a:pt x="1486" y="2"/>
                  </a:lnTo>
                  <a:lnTo>
                    <a:pt x="1521" y="10"/>
                  </a:lnTo>
                  <a:lnTo>
                    <a:pt x="1552" y="25"/>
                  </a:lnTo>
                  <a:lnTo>
                    <a:pt x="1581" y="43"/>
                  </a:lnTo>
                  <a:lnTo>
                    <a:pt x="1607" y="65"/>
                  </a:lnTo>
                  <a:lnTo>
                    <a:pt x="1630" y="91"/>
                  </a:lnTo>
                  <a:lnTo>
                    <a:pt x="1648" y="120"/>
                  </a:lnTo>
                  <a:lnTo>
                    <a:pt x="1661" y="152"/>
                  </a:lnTo>
                  <a:lnTo>
                    <a:pt x="1670" y="187"/>
                  </a:lnTo>
                  <a:lnTo>
                    <a:pt x="1673" y="223"/>
                  </a:lnTo>
                  <a:lnTo>
                    <a:pt x="1673" y="390"/>
                  </a:lnTo>
                  <a:lnTo>
                    <a:pt x="2008" y="390"/>
                  </a:lnTo>
                  <a:lnTo>
                    <a:pt x="2043" y="392"/>
                  </a:lnTo>
                  <a:lnTo>
                    <a:pt x="2078" y="401"/>
                  </a:lnTo>
                  <a:lnTo>
                    <a:pt x="2110" y="415"/>
                  </a:lnTo>
                  <a:lnTo>
                    <a:pt x="2139" y="432"/>
                  </a:lnTo>
                  <a:lnTo>
                    <a:pt x="2165" y="455"/>
                  </a:lnTo>
                  <a:lnTo>
                    <a:pt x="2187" y="481"/>
                  </a:lnTo>
                  <a:lnTo>
                    <a:pt x="2205" y="510"/>
                  </a:lnTo>
                  <a:lnTo>
                    <a:pt x="2220" y="543"/>
                  </a:lnTo>
                  <a:lnTo>
                    <a:pt x="2228" y="576"/>
                  </a:lnTo>
                  <a:lnTo>
                    <a:pt x="2230" y="613"/>
                  </a:lnTo>
                  <a:lnTo>
                    <a:pt x="2230" y="1728"/>
                  </a:lnTo>
                  <a:lnTo>
                    <a:pt x="2228" y="1765"/>
                  </a:lnTo>
                  <a:lnTo>
                    <a:pt x="2220" y="1799"/>
                  </a:lnTo>
                  <a:lnTo>
                    <a:pt x="2205" y="1831"/>
                  </a:lnTo>
                  <a:lnTo>
                    <a:pt x="2187" y="1860"/>
                  </a:lnTo>
                  <a:lnTo>
                    <a:pt x="2165" y="1886"/>
                  </a:lnTo>
                  <a:lnTo>
                    <a:pt x="2139" y="1909"/>
                  </a:lnTo>
                  <a:lnTo>
                    <a:pt x="2110" y="1926"/>
                  </a:lnTo>
                  <a:lnTo>
                    <a:pt x="2078" y="1940"/>
                  </a:lnTo>
                  <a:lnTo>
                    <a:pt x="2043" y="1949"/>
                  </a:lnTo>
                  <a:lnTo>
                    <a:pt x="2008" y="1951"/>
                  </a:lnTo>
                  <a:lnTo>
                    <a:pt x="223" y="1951"/>
                  </a:lnTo>
                  <a:lnTo>
                    <a:pt x="187" y="1949"/>
                  </a:lnTo>
                  <a:lnTo>
                    <a:pt x="152" y="1940"/>
                  </a:lnTo>
                  <a:lnTo>
                    <a:pt x="120" y="1926"/>
                  </a:lnTo>
                  <a:lnTo>
                    <a:pt x="91" y="1909"/>
                  </a:lnTo>
                  <a:lnTo>
                    <a:pt x="65" y="1886"/>
                  </a:lnTo>
                  <a:lnTo>
                    <a:pt x="43" y="1860"/>
                  </a:lnTo>
                  <a:lnTo>
                    <a:pt x="25" y="1831"/>
                  </a:lnTo>
                  <a:lnTo>
                    <a:pt x="10" y="1799"/>
                  </a:lnTo>
                  <a:lnTo>
                    <a:pt x="2" y="1765"/>
                  </a:lnTo>
                  <a:lnTo>
                    <a:pt x="0" y="1728"/>
                  </a:lnTo>
                  <a:lnTo>
                    <a:pt x="0" y="613"/>
                  </a:lnTo>
                  <a:lnTo>
                    <a:pt x="2" y="576"/>
                  </a:lnTo>
                  <a:lnTo>
                    <a:pt x="10" y="543"/>
                  </a:lnTo>
                  <a:lnTo>
                    <a:pt x="25" y="510"/>
                  </a:lnTo>
                  <a:lnTo>
                    <a:pt x="43" y="481"/>
                  </a:lnTo>
                  <a:lnTo>
                    <a:pt x="65" y="455"/>
                  </a:lnTo>
                  <a:lnTo>
                    <a:pt x="91" y="432"/>
                  </a:lnTo>
                  <a:lnTo>
                    <a:pt x="120" y="415"/>
                  </a:lnTo>
                  <a:lnTo>
                    <a:pt x="152" y="401"/>
                  </a:lnTo>
                  <a:lnTo>
                    <a:pt x="187" y="392"/>
                  </a:lnTo>
                  <a:lnTo>
                    <a:pt x="223" y="390"/>
                  </a:lnTo>
                  <a:lnTo>
                    <a:pt x="557" y="390"/>
                  </a:lnTo>
                  <a:lnTo>
                    <a:pt x="557" y="223"/>
                  </a:lnTo>
                  <a:lnTo>
                    <a:pt x="560" y="187"/>
                  </a:lnTo>
                  <a:lnTo>
                    <a:pt x="569" y="152"/>
                  </a:lnTo>
                  <a:lnTo>
                    <a:pt x="582" y="120"/>
                  </a:lnTo>
                  <a:lnTo>
                    <a:pt x="600" y="91"/>
                  </a:lnTo>
                  <a:lnTo>
                    <a:pt x="623" y="65"/>
                  </a:lnTo>
                  <a:lnTo>
                    <a:pt x="649" y="43"/>
                  </a:lnTo>
                  <a:lnTo>
                    <a:pt x="678" y="25"/>
                  </a:lnTo>
                  <a:lnTo>
                    <a:pt x="709" y="10"/>
                  </a:lnTo>
                  <a:lnTo>
                    <a:pt x="744" y="2"/>
                  </a:lnTo>
                  <a:lnTo>
                    <a:pt x="781"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grpSp>
      <p:sp>
        <p:nvSpPr>
          <p:cNvPr id="18" name="Rectangle 17">
            <a:extLst>
              <a:ext uri="{FF2B5EF4-FFF2-40B4-BE49-F238E27FC236}">
                <a16:creationId xmlns:a16="http://schemas.microsoft.com/office/drawing/2014/main" id="{3A143F72-D795-612E-56C6-1B5CE5A96283}"/>
              </a:ext>
            </a:extLst>
          </p:cNvPr>
          <p:cNvSpPr/>
          <p:nvPr/>
        </p:nvSpPr>
        <p:spPr>
          <a:xfrm>
            <a:off x="3218068" y="1726027"/>
            <a:ext cx="1658731" cy="369332"/>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err="1">
                <a:ln>
                  <a:noFill/>
                </a:ln>
                <a:solidFill>
                  <a:srgbClr val="660A21"/>
                </a:solidFill>
                <a:effectLst/>
                <a:uLnTx/>
                <a:uFillTx/>
                <a:latin typeface="Arial"/>
                <a:ea typeface="+mn-ea"/>
                <a:cs typeface="+mn-cs"/>
              </a:rPr>
              <a:t>Expériences</a:t>
            </a:r>
            <a:endParaRPr kumimoji="0" lang="en-US" sz="1800" b="1" i="0" u="none" strike="noStrike" kern="0" cap="none" spc="0" normalizeH="0" baseline="0" noProof="0" dirty="0">
              <a:ln>
                <a:noFill/>
              </a:ln>
              <a:solidFill>
                <a:srgbClr val="660A21"/>
              </a:solidFill>
              <a:effectLst/>
              <a:uLnTx/>
              <a:uFillTx/>
              <a:latin typeface="Arial"/>
              <a:ea typeface="+mn-ea"/>
              <a:cs typeface="+mn-cs"/>
            </a:endParaRPr>
          </a:p>
        </p:txBody>
      </p:sp>
      <p:cxnSp>
        <p:nvCxnSpPr>
          <p:cNvPr id="36" name="Straight Connector 162">
            <a:extLst>
              <a:ext uri="{FF2B5EF4-FFF2-40B4-BE49-F238E27FC236}">
                <a16:creationId xmlns:a16="http://schemas.microsoft.com/office/drawing/2014/main" id="{EEE1D5D8-5720-83F6-C6E5-94E342E6B42C}"/>
              </a:ext>
            </a:extLst>
          </p:cNvPr>
          <p:cNvCxnSpPr/>
          <p:nvPr>
            <p:custDataLst>
              <p:tags r:id="rId2"/>
            </p:custDataLst>
          </p:nvPr>
        </p:nvCxnSpPr>
        <p:spPr>
          <a:xfrm>
            <a:off x="195533" y="720402"/>
            <a:ext cx="2065055"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5E4F343F-E3D9-E509-872D-4850BCE80280}"/>
              </a:ext>
            </a:extLst>
          </p:cNvPr>
          <p:cNvSpPr/>
          <p:nvPr>
            <p:custDataLst>
              <p:tags r:id="rId3"/>
            </p:custDataLst>
          </p:nvPr>
        </p:nvSpPr>
        <p:spPr>
          <a:xfrm>
            <a:off x="94111" y="818809"/>
            <a:ext cx="2398550" cy="4458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0" cap="none" spc="0" normalizeH="0" baseline="0" noProof="0" dirty="0">
                <a:ln>
                  <a:noFill/>
                </a:ln>
                <a:solidFill>
                  <a:prstClr val="white"/>
                </a:solidFill>
                <a:uLnTx/>
                <a:uFillTx/>
                <a:latin typeface="Arial" panose="020B0604020202020204" pitchFamily="34" charset="0"/>
                <a:cs typeface="Arial" panose="020B0604020202020204" pitchFamily="34" charset="0"/>
              </a:rPr>
              <a:t>Développeuse d’application</a:t>
            </a:r>
            <a:endParaRPr kumimoji="0" lang="fr-FR" sz="1600" b="0" i="0" u="none" strike="noStrike" kern="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E95D498A-E27A-6253-8403-D3F2FD0EC87E}"/>
              </a:ext>
            </a:extLst>
          </p:cNvPr>
          <p:cNvSpPr/>
          <p:nvPr>
            <p:custDataLst>
              <p:tags r:id="rId4"/>
            </p:custDataLst>
          </p:nvPr>
        </p:nvSpPr>
        <p:spPr>
          <a:xfrm>
            <a:off x="-3746" y="1796930"/>
            <a:ext cx="2510752" cy="447589"/>
          </a:xfrm>
          <a:prstGeom prst="rect">
            <a:avLst/>
          </a:prstGeom>
          <a:solidFill>
            <a:srgbClr val="CC0033"/>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fr-FR" sz="1300" b="1" kern="0" dirty="0">
                <a:solidFill>
                  <a:srgbClr val="FFFFFF"/>
                </a:solidFill>
                <a:latin typeface="Arial"/>
              </a:rPr>
              <a:t>Technologies</a:t>
            </a:r>
            <a:endParaRPr kumimoji="0" lang="fr-FR" sz="1300" b="1" i="0" u="none" strike="noStrike" kern="0" cap="none" spc="0" normalizeH="0" baseline="0" noProof="0" dirty="0">
              <a:ln>
                <a:noFill/>
              </a:ln>
              <a:solidFill>
                <a:srgbClr val="FFFFFF"/>
              </a:solidFill>
              <a:effectLst/>
              <a:uLnTx/>
              <a:uFillTx/>
              <a:latin typeface="Arial"/>
              <a:ea typeface="+mn-ea"/>
              <a:cs typeface="+mn-cs"/>
            </a:endParaRPr>
          </a:p>
        </p:txBody>
      </p:sp>
      <p:sp>
        <p:nvSpPr>
          <p:cNvPr id="19" name="ZoneTexte 18">
            <a:extLst>
              <a:ext uri="{FF2B5EF4-FFF2-40B4-BE49-F238E27FC236}">
                <a16:creationId xmlns:a16="http://schemas.microsoft.com/office/drawing/2014/main" id="{63A28AAB-B571-33AD-D5FE-476550328F4A}"/>
              </a:ext>
            </a:extLst>
          </p:cNvPr>
          <p:cNvSpPr txBox="1"/>
          <p:nvPr/>
        </p:nvSpPr>
        <p:spPr>
          <a:xfrm>
            <a:off x="-18090" y="2263898"/>
            <a:ext cx="2510751" cy="1245919"/>
          </a:xfrm>
          <a:prstGeom prst="rect">
            <a:avLst/>
          </a:prstGeom>
          <a:noFill/>
        </p:spPr>
        <p:txBody>
          <a:bodyPr wrap="square">
            <a:spAutoFit/>
          </a:bodyPr>
          <a:lstStyle/>
          <a:p>
            <a:pPr marL="171450" indent="-171450">
              <a:buFont typeface="Arial" panose="020B0604020202020204" pitchFamily="34" charset="0"/>
              <a:buChar char="•"/>
            </a:pPr>
            <a:endParaRPr lang="fr-FR" sz="1100" b="1" dirty="0">
              <a:solidFill>
                <a:schemeClr val="bg1"/>
              </a:solidFill>
              <a:latin typeface="Arial" panose="020B0604020202020204" pitchFamily="34" charset="0"/>
              <a:cs typeface="Arial" panose="020B0604020202020204" pitchFamily="34" charset="0"/>
            </a:endParaRPr>
          </a:p>
          <a:p>
            <a:pPr marL="171450" indent="-171450">
              <a:lnSpc>
                <a:spcPct val="150000"/>
              </a:lnSpc>
              <a:buFont typeface="Arial" panose="020B0604020202020204" pitchFamily="34" charset="0"/>
              <a:buChar char="•"/>
            </a:pPr>
            <a:r>
              <a:rPr lang="fr-FR" sz="1100" b="1" dirty="0">
                <a:solidFill>
                  <a:schemeClr val="bg1"/>
                </a:solidFill>
                <a:latin typeface="Arial" panose="020B0604020202020204" pitchFamily="34" charset="0"/>
                <a:cs typeface="Arial" panose="020B0604020202020204" pitchFamily="34" charset="0"/>
              </a:rPr>
              <a:t>PHP (Symfony – </a:t>
            </a:r>
            <a:r>
              <a:rPr lang="fr-FR" sz="1100" b="1" dirty="0" err="1">
                <a:solidFill>
                  <a:schemeClr val="bg1"/>
                </a:solidFill>
                <a:latin typeface="Arial" panose="020B0604020202020204" pitchFamily="34" charset="0"/>
                <a:cs typeface="Arial" panose="020B0604020202020204" pitchFamily="34" charset="0"/>
              </a:rPr>
              <a:t>Laravel</a:t>
            </a:r>
            <a:r>
              <a:rPr lang="fr-FR" sz="1100" b="1" dirty="0">
                <a:solidFill>
                  <a:schemeClr val="bg1"/>
                </a:solidFill>
                <a:latin typeface="Arial" panose="020B0604020202020204" pitchFamily="34" charset="0"/>
                <a:cs typeface="Arial" panose="020B0604020202020204" pitchFamily="34" charset="0"/>
              </a:rPr>
              <a:t>)</a:t>
            </a:r>
          </a:p>
          <a:p>
            <a:pPr marL="171450" indent="-171450">
              <a:lnSpc>
                <a:spcPct val="150000"/>
              </a:lnSpc>
              <a:buFont typeface="Arial" panose="020B0604020202020204" pitchFamily="34" charset="0"/>
              <a:buChar char="•"/>
            </a:pPr>
            <a:r>
              <a:rPr lang="fr-FR" sz="1100" b="1" dirty="0">
                <a:solidFill>
                  <a:schemeClr val="bg1"/>
                </a:solidFill>
                <a:latin typeface="Arial" panose="020B0604020202020204" pitchFamily="34" charset="0"/>
                <a:cs typeface="Arial" panose="020B0604020202020204" pitchFamily="34" charset="0"/>
              </a:rPr>
              <a:t>JAVA </a:t>
            </a:r>
            <a:r>
              <a:rPr lang="fr-FR" sz="1100" b="1" dirty="0" err="1">
                <a:solidFill>
                  <a:schemeClr val="bg1"/>
                </a:solidFill>
                <a:latin typeface="Arial" panose="020B0604020202020204" pitchFamily="34" charset="0"/>
                <a:cs typeface="Arial" panose="020B0604020202020204" pitchFamily="34" charset="0"/>
              </a:rPr>
              <a:t>Springboot</a:t>
            </a:r>
            <a:endParaRPr lang="fr-FR" sz="1100" b="1" dirty="0">
              <a:solidFill>
                <a:schemeClr val="bg1"/>
              </a:solidFill>
              <a:latin typeface="Arial" panose="020B0604020202020204" pitchFamily="34" charset="0"/>
              <a:cs typeface="Arial" panose="020B0604020202020204" pitchFamily="34" charset="0"/>
            </a:endParaRPr>
          </a:p>
          <a:p>
            <a:pPr marL="171450" indent="-171450">
              <a:lnSpc>
                <a:spcPct val="150000"/>
              </a:lnSpc>
              <a:buFont typeface="Arial" panose="020B0604020202020204" pitchFamily="34" charset="0"/>
              <a:buChar char="•"/>
            </a:pPr>
            <a:r>
              <a:rPr lang="fr-FR" sz="1100" b="1" dirty="0">
                <a:solidFill>
                  <a:schemeClr val="bg1"/>
                </a:solidFill>
                <a:latin typeface="Arial" panose="020B0604020202020204" pitchFamily="34" charset="0"/>
                <a:cs typeface="Arial" panose="020B0604020202020204" pitchFamily="34" charset="0"/>
              </a:rPr>
              <a:t>Javascript</a:t>
            </a:r>
          </a:p>
          <a:p>
            <a:pPr marL="171450" indent="-171450">
              <a:lnSpc>
                <a:spcPct val="150000"/>
              </a:lnSpc>
              <a:buFont typeface="Arial" panose="020B0604020202020204" pitchFamily="34" charset="0"/>
              <a:buChar char="•"/>
            </a:pPr>
            <a:r>
              <a:rPr lang="fr-FR" sz="1100" b="1" dirty="0">
                <a:solidFill>
                  <a:schemeClr val="bg1"/>
                </a:solidFill>
                <a:latin typeface="Arial" panose="020B0604020202020204" pitchFamily="34" charset="0"/>
                <a:cs typeface="Arial" panose="020B0604020202020204" pitchFamily="34" charset="0"/>
              </a:rPr>
              <a:t>PYTHON (Django)</a:t>
            </a:r>
            <a:endParaRPr lang="fr-FR" sz="1100" dirty="0">
              <a:solidFill>
                <a:schemeClr val="bg1"/>
              </a:solidFill>
              <a:latin typeface="Arial" panose="020B0604020202020204" pitchFamily="34" charset="0"/>
              <a:cs typeface="Arial" panose="020B0604020202020204" pitchFamily="34" charset="0"/>
            </a:endParaRPr>
          </a:p>
        </p:txBody>
      </p:sp>
      <p:sp>
        <p:nvSpPr>
          <p:cNvPr id="50" name="Rectangle 49">
            <a:extLst>
              <a:ext uri="{FF2B5EF4-FFF2-40B4-BE49-F238E27FC236}">
                <a16:creationId xmlns:a16="http://schemas.microsoft.com/office/drawing/2014/main" id="{861C70C1-9613-8D45-C06D-95FB35B8C78F}"/>
              </a:ext>
            </a:extLst>
          </p:cNvPr>
          <p:cNvSpPr/>
          <p:nvPr>
            <p:custDataLst>
              <p:tags r:id="rId5"/>
            </p:custDataLst>
          </p:nvPr>
        </p:nvSpPr>
        <p:spPr>
          <a:xfrm>
            <a:off x="-62870" y="258914"/>
            <a:ext cx="2709278" cy="3821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600" b="1" kern="0" dirty="0">
                <a:solidFill>
                  <a:prstClr val="white"/>
                </a:solidFill>
                <a:effectLst/>
                <a:latin typeface="Arial" panose="020B0604020202020204" pitchFamily="34" charset="0"/>
                <a:cs typeface="Arial" panose="020B0604020202020204" pitchFamily="34" charset="0"/>
              </a:rPr>
              <a:t>Joséphine</a:t>
            </a:r>
            <a:endParaRPr kumimoji="0" lang="fr-FR" sz="1600" b="0" i="0" u="none" strike="noStrike" kern="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p:txBody>
      </p:sp>
      <p:sp>
        <p:nvSpPr>
          <p:cNvPr id="12" name="Rectangle 11">
            <a:extLst>
              <a:ext uri="{FF2B5EF4-FFF2-40B4-BE49-F238E27FC236}">
                <a16:creationId xmlns:a16="http://schemas.microsoft.com/office/drawing/2014/main" id="{3B4C62FE-BAC5-2FF8-9F7A-C0B0F0E5A307}"/>
              </a:ext>
            </a:extLst>
          </p:cNvPr>
          <p:cNvSpPr/>
          <p:nvPr>
            <p:custDataLst>
              <p:tags r:id="rId6"/>
            </p:custDataLst>
          </p:nvPr>
        </p:nvSpPr>
        <p:spPr>
          <a:xfrm>
            <a:off x="-3746" y="4176233"/>
            <a:ext cx="2510752" cy="447589"/>
          </a:xfrm>
          <a:prstGeom prst="rect">
            <a:avLst/>
          </a:prstGeom>
          <a:solidFill>
            <a:srgbClr val="CC0033"/>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fr-FR" sz="1300" b="1" kern="0" dirty="0">
                <a:solidFill>
                  <a:srgbClr val="FFFFFF"/>
                </a:solidFill>
                <a:latin typeface="Arial"/>
              </a:rPr>
              <a:t>Compétences techniques</a:t>
            </a:r>
            <a:endParaRPr kumimoji="0" lang="fr-FR" sz="1300" b="1" i="0" u="none" strike="noStrike" kern="0" cap="none" spc="0" normalizeH="0" baseline="0" noProof="0" dirty="0">
              <a:ln>
                <a:noFill/>
              </a:ln>
              <a:solidFill>
                <a:srgbClr val="FFFFFF"/>
              </a:solidFill>
              <a:effectLst/>
              <a:uLnTx/>
              <a:uFillTx/>
              <a:latin typeface="Arial"/>
              <a:ea typeface="+mn-ea"/>
              <a:cs typeface="+mn-cs"/>
            </a:endParaRPr>
          </a:p>
        </p:txBody>
      </p:sp>
      <p:sp>
        <p:nvSpPr>
          <p:cNvPr id="14" name="ZoneTexte 13">
            <a:extLst>
              <a:ext uri="{FF2B5EF4-FFF2-40B4-BE49-F238E27FC236}">
                <a16:creationId xmlns:a16="http://schemas.microsoft.com/office/drawing/2014/main" id="{531AFACA-408C-ABC9-54F8-198D2AFBEBF1}"/>
              </a:ext>
            </a:extLst>
          </p:cNvPr>
          <p:cNvSpPr txBox="1"/>
          <p:nvPr/>
        </p:nvSpPr>
        <p:spPr>
          <a:xfrm>
            <a:off x="-18090" y="4643201"/>
            <a:ext cx="2510751" cy="484172"/>
          </a:xfrm>
          <a:prstGeom prst="rect">
            <a:avLst/>
          </a:prstGeom>
          <a:noFill/>
        </p:spPr>
        <p:txBody>
          <a:bodyPr wrap="square">
            <a:spAutoFit/>
          </a:bodyPr>
          <a:lstStyle/>
          <a:p>
            <a:endParaRPr lang="fr-FR" sz="1100" dirty="0">
              <a:solidFill>
                <a:schemeClr val="bg1"/>
              </a:solidFill>
              <a:latin typeface="Arial" panose="020B0604020202020204" pitchFamily="34" charset="0"/>
              <a:cs typeface="Arial" panose="020B0604020202020204" pitchFamily="34" charset="0"/>
            </a:endParaRPr>
          </a:p>
          <a:p>
            <a:pPr marL="171450" indent="-171450">
              <a:lnSpc>
                <a:spcPct val="150000"/>
              </a:lnSpc>
              <a:buFont typeface="Arial" panose="020B0604020202020204" pitchFamily="34" charset="0"/>
              <a:buChar char="•"/>
            </a:pPr>
            <a:r>
              <a:rPr lang="fr-FR" sz="1100" b="1" dirty="0">
                <a:solidFill>
                  <a:schemeClr val="bg1"/>
                </a:solidFill>
                <a:latin typeface="Arial" panose="020B0604020202020204" pitchFamily="34" charset="0"/>
                <a:cs typeface="Arial" panose="020B0604020202020204" pitchFamily="34" charset="0"/>
              </a:rPr>
              <a:t>Développement Web</a:t>
            </a:r>
          </a:p>
        </p:txBody>
      </p:sp>
    </p:spTree>
    <p:extLst>
      <p:ext uri="{BB962C8B-B14F-4D97-AF65-F5344CB8AC3E}">
        <p14:creationId xmlns:p14="http://schemas.microsoft.com/office/powerpoint/2010/main" val="26166021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F8BFC11E-C146-393D-58F0-EB41D1061B03}"/>
              </a:ext>
            </a:extLst>
          </p:cNvPr>
          <p:cNvSpPr/>
          <p:nvPr>
            <p:custDataLst>
              <p:tags r:id="rId1"/>
            </p:custDataLst>
          </p:nvPr>
        </p:nvSpPr>
        <p:spPr>
          <a:xfrm>
            <a:off x="2689829" y="1132269"/>
            <a:ext cx="7341876" cy="552986"/>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400050" lvl="0" indent="-173038">
              <a:buFont typeface="Arial" panose="020B0604020202020204" pitchFamily="34" charset="0"/>
              <a:buChar char="•"/>
              <a:defRPr/>
            </a:pPr>
            <a:endParaRPr lang="fr-CA" sz="500" kern="0" dirty="0">
              <a:solidFill>
                <a:srgbClr val="FFFFFF">
                  <a:lumMod val="50000"/>
                </a:srgbClr>
              </a:solidFill>
            </a:endParaRPr>
          </a:p>
          <a:p>
            <a:pPr marL="400050" indent="-173038">
              <a:buFont typeface="Arial" panose="020B0604020202020204" pitchFamily="34" charset="0"/>
              <a:buChar char="•"/>
              <a:defRPr/>
            </a:pPr>
            <a:r>
              <a:rPr lang="en-US" sz="1150" kern="0" dirty="0">
                <a:solidFill>
                  <a:srgbClr val="FFFFFF">
                    <a:lumMod val="50000"/>
                  </a:srgbClr>
                </a:solidFill>
                <a:latin typeface="Arial" panose="020B0604020202020204" pitchFamily="34" charset="0"/>
                <a:cs typeface="Arial" panose="020B0604020202020204" pitchFamily="34" charset="0"/>
              </a:rPr>
              <a:t>2024 </a:t>
            </a:r>
            <a:r>
              <a:rPr lang="fr-FR" sz="1100" dirty="0">
                <a:solidFill>
                  <a:srgbClr val="7F7F7F"/>
                </a:solidFill>
                <a:latin typeface="Arial" panose="020B0604020202020204" pitchFamily="34" charset="0"/>
                <a:ea typeface="Calibri"/>
                <a:cs typeface="Arial" panose="020B0604020202020204" pitchFamily="34" charset="0"/>
                <a:sym typeface="Calibri"/>
              </a:rPr>
              <a:t>|</a:t>
            </a:r>
            <a:r>
              <a:rPr lang="en-US" sz="1150" kern="0" dirty="0">
                <a:solidFill>
                  <a:srgbClr val="FFFFFF">
                    <a:lumMod val="50000"/>
                  </a:srgbClr>
                </a:solidFill>
                <a:latin typeface="Arial" panose="020B0604020202020204" pitchFamily="34" charset="0"/>
                <a:cs typeface="Arial" panose="020B0604020202020204" pitchFamily="34" charset="0"/>
              </a:rPr>
              <a:t> </a:t>
            </a:r>
            <a:r>
              <a:rPr lang="fr-FR" sz="1150" kern="0" dirty="0">
                <a:solidFill>
                  <a:srgbClr val="FFFFFF">
                    <a:lumMod val="50000"/>
                  </a:srgbClr>
                </a:solidFill>
                <a:latin typeface="Arial" panose="020B0604020202020204" pitchFamily="34" charset="0"/>
                <a:cs typeface="Arial" panose="020B0604020202020204" pitchFamily="34" charset="0"/>
              </a:rPr>
              <a:t>Licence, Développement web </a:t>
            </a:r>
            <a:r>
              <a:rPr lang="fr-FR" sz="1150" kern="0">
                <a:solidFill>
                  <a:srgbClr val="FFFFFF">
                    <a:lumMod val="50000"/>
                  </a:srgbClr>
                </a:solidFill>
                <a:latin typeface="Arial" panose="020B0604020202020204" pitchFamily="34" charset="0"/>
                <a:cs typeface="Arial" panose="020B0604020202020204" pitchFamily="34" charset="0"/>
              </a:rPr>
              <a:t>&amp; mobile </a:t>
            </a:r>
            <a:r>
              <a:rPr lang="fr-FR" sz="1150" kern="0" dirty="0">
                <a:solidFill>
                  <a:srgbClr val="FFFFFF">
                    <a:lumMod val="50000"/>
                  </a:srgbClr>
                </a:solidFill>
                <a:latin typeface="Arial" panose="020B0604020202020204" pitchFamily="34" charset="0"/>
                <a:cs typeface="Arial" panose="020B0604020202020204" pitchFamily="34" charset="0"/>
              </a:rPr>
              <a:t>– IPNET, Lomé</a:t>
            </a:r>
          </a:p>
          <a:p>
            <a:pPr marL="400050" indent="-173038">
              <a:buFont typeface="Arial" panose="020B0604020202020204" pitchFamily="34" charset="0"/>
              <a:buChar char="•"/>
              <a:defRPr/>
            </a:pPr>
            <a:r>
              <a:rPr lang="en-US" sz="1150" kern="0" dirty="0">
                <a:solidFill>
                  <a:srgbClr val="FFFFFF">
                    <a:lumMod val="50000"/>
                  </a:srgbClr>
                </a:solidFill>
                <a:latin typeface="Arial" panose="020B0604020202020204" pitchFamily="34" charset="0"/>
                <a:cs typeface="Arial" panose="020B0604020202020204" pitchFamily="34" charset="0"/>
              </a:rPr>
              <a:t>2021 </a:t>
            </a:r>
            <a:r>
              <a:rPr lang="fr-FR" sz="1100" dirty="0">
                <a:solidFill>
                  <a:srgbClr val="7F7F7F"/>
                </a:solidFill>
                <a:latin typeface="Arial" panose="020B0604020202020204" pitchFamily="34" charset="0"/>
                <a:ea typeface="Calibri"/>
                <a:cs typeface="Arial" panose="020B0604020202020204" pitchFamily="34" charset="0"/>
                <a:sym typeface="Calibri"/>
              </a:rPr>
              <a:t>|</a:t>
            </a:r>
            <a:r>
              <a:rPr lang="en-US" sz="1150" kern="0" dirty="0">
                <a:solidFill>
                  <a:srgbClr val="FFFFFF">
                    <a:lumMod val="50000"/>
                  </a:srgbClr>
                </a:solidFill>
                <a:latin typeface="Arial" panose="020B0604020202020204" pitchFamily="34" charset="0"/>
                <a:cs typeface="Arial" panose="020B0604020202020204" pitchFamily="34" charset="0"/>
              </a:rPr>
              <a:t> </a:t>
            </a:r>
            <a:r>
              <a:rPr lang="fr-FR" sz="1150" kern="0" dirty="0">
                <a:solidFill>
                  <a:srgbClr val="FFFFFF">
                    <a:lumMod val="50000"/>
                  </a:srgbClr>
                </a:solidFill>
                <a:latin typeface="Arial" panose="020B0604020202020204" pitchFamily="34" charset="0"/>
                <a:cs typeface="Arial" panose="020B0604020202020204" pitchFamily="34" charset="0"/>
              </a:rPr>
              <a:t>Baccalauréat, Série D, Scientifique</a:t>
            </a:r>
          </a:p>
        </p:txBody>
      </p:sp>
      <p:sp>
        <p:nvSpPr>
          <p:cNvPr id="21" name="Rectangle 20">
            <a:extLst>
              <a:ext uri="{FF2B5EF4-FFF2-40B4-BE49-F238E27FC236}">
                <a16:creationId xmlns:a16="http://schemas.microsoft.com/office/drawing/2014/main" id="{E54880B0-C3A7-3E7C-BCD6-2DC85CBBC8C2}"/>
              </a:ext>
            </a:extLst>
          </p:cNvPr>
          <p:cNvSpPr/>
          <p:nvPr>
            <p:custDataLst>
              <p:tags r:id="rId2"/>
            </p:custDataLst>
          </p:nvPr>
        </p:nvSpPr>
        <p:spPr bwMode="gray">
          <a:xfrm>
            <a:off x="3283441" y="903476"/>
            <a:ext cx="1294935" cy="86743"/>
          </a:xfrm>
          <a:prstGeom prst="rect">
            <a:avLst/>
          </a:prstGeom>
          <a:solidFill>
            <a:srgbClr val="FFFFFF"/>
          </a:solidFill>
          <a:ln w="9525" algn="ctr">
            <a:noFill/>
            <a:miter lim="800000"/>
            <a:headEnd/>
            <a:tailEnd/>
          </a:ln>
          <a:effectLst/>
        </p:spPr>
        <p:txBody>
          <a:bodyPr lIns="63500" tIns="0" rIns="64800" bIns="0" rtlCol="0" anchor="ctr"/>
          <a:lstStyle/>
          <a:p>
            <a:pPr algn="ctr">
              <a:spcBef>
                <a:spcPct val="0"/>
              </a:spcBef>
              <a:buClrTx/>
              <a:buSzPct val="90000"/>
            </a:pPr>
            <a:endParaRPr lang="en-GB" sz="1600" b="1" dirty="0">
              <a:solidFill>
                <a:schemeClr val="bg1"/>
              </a:solidFill>
              <a:cs typeface="Arial" pitchFamily="34" charset="0"/>
            </a:endParaRPr>
          </a:p>
        </p:txBody>
      </p:sp>
      <p:sp>
        <p:nvSpPr>
          <p:cNvPr id="22" name="Rectangle 21">
            <a:extLst>
              <a:ext uri="{FF2B5EF4-FFF2-40B4-BE49-F238E27FC236}">
                <a16:creationId xmlns:a16="http://schemas.microsoft.com/office/drawing/2014/main" id="{B95E3451-AED4-09A0-8A8A-4FB8DED9F73E}"/>
              </a:ext>
            </a:extLst>
          </p:cNvPr>
          <p:cNvSpPr/>
          <p:nvPr>
            <p:custDataLst>
              <p:tags r:id="rId3"/>
            </p:custDataLst>
          </p:nvPr>
        </p:nvSpPr>
        <p:spPr>
          <a:xfrm>
            <a:off x="3221384" y="822413"/>
            <a:ext cx="336057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0" cap="none" spc="0" normalizeH="0" baseline="0" noProof="0" dirty="0">
                <a:ln>
                  <a:noFill/>
                </a:ln>
                <a:solidFill>
                  <a:srgbClr val="660A21"/>
                </a:solidFill>
                <a:effectLst/>
                <a:uLnTx/>
                <a:uFillTx/>
                <a:latin typeface="Arial"/>
                <a:ea typeface="+mn-ea"/>
                <a:cs typeface="+mn-cs"/>
              </a:rPr>
              <a:t>Education  </a:t>
            </a:r>
            <a:endParaRPr kumimoji="0" lang="fr-FR" sz="1800" b="0" i="0" u="none" strike="noStrike" kern="0" cap="none" spc="0" normalizeH="0" baseline="0" noProof="0" dirty="0">
              <a:ln>
                <a:noFill/>
              </a:ln>
              <a:solidFill>
                <a:srgbClr val="660A21"/>
              </a:solidFill>
              <a:effectLst/>
              <a:uLnTx/>
              <a:uFillTx/>
              <a:latin typeface="Arial"/>
              <a:ea typeface="+mn-ea"/>
              <a:cs typeface="+mn-cs"/>
            </a:endParaRPr>
          </a:p>
        </p:txBody>
      </p:sp>
      <p:grpSp>
        <p:nvGrpSpPr>
          <p:cNvPr id="23" name="Group 9">
            <a:extLst>
              <a:ext uri="{FF2B5EF4-FFF2-40B4-BE49-F238E27FC236}">
                <a16:creationId xmlns:a16="http://schemas.microsoft.com/office/drawing/2014/main" id="{15A871F1-6076-1B46-594D-147F0CAF0E6D}"/>
              </a:ext>
            </a:extLst>
          </p:cNvPr>
          <p:cNvGrpSpPr/>
          <p:nvPr>
            <p:custDataLst>
              <p:tags r:id="rId4"/>
            </p:custDataLst>
          </p:nvPr>
        </p:nvGrpSpPr>
        <p:grpSpPr>
          <a:xfrm>
            <a:off x="2669638" y="713726"/>
            <a:ext cx="552985" cy="552985"/>
            <a:chOff x="11915507" y="641751"/>
            <a:chExt cx="552985" cy="552985"/>
          </a:xfrm>
        </p:grpSpPr>
        <p:sp>
          <p:nvSpPr>
            <p:cNvPr id="24" name="Oval 6">
              <a:extLst>
                <a:ext uri="{FF2B5EF4-FFF2-40B4-BE49-F238E27FC236}">
                  <a16:creationId xmlns:a16="http://schemas.microsoft.com/office/drawing/2014/main" id="{31F76279-990F-946F-F5CF-440206D05D52}"/>
                </a:ext>
              </a:extLst>
            </p:cNvPr>
            <p:cNvSpPr>
              <a:spLocks noChangeAspect="1"/>
            </p:cNvSpPr>
            <p:nvPr/>
          </p:nvSpPr>
          <p:spPr>
            <a:xfrm>
              <a:off x="11915507" y="641751"/>
              <a:ext cx="552985" cy="552985"/>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grpSp>
          <p:nvGrpSpPr>
            <p:cNvPr id="25" name="Group 5">
              <a:extLst>
                <a:ext uri="{FF2B5EF4-FFF2-40B4-BE49-F238E27FC236}">
                  <a16:creationId xmlns:a16="http://schemas.microsoft.com/office/drawing/2014/main" id="{5A49C96D-08A7-D685-97F6-697F7AF25506}"/>
                </a:ext>
              </a:extLst>
            </p:cNvPr>
            <p:cNvGrpSpPr/>
            <p:nvPr/>
          </p:nvGrpSpPr>
          <p:grpSpPr>
            <a:xfrm>
              <a:off x="12019598" y="762648"/>
              <a:ext cx="344803" cy="311190"/>
              <a:chOff x="5994732" y="201531"/>
              <a:chExt cx="344803" cy="311190"/>
            </a:xfrm>
            <a:solidFill>
              <a:schemeClr val="bg1"/>
            </a:solidFill>
          </p:grpSpPr>
          <p:sp>
            <p:nvSpPr>
              <p:cNvPr id="26" name="Rectangle 95">
                <a:extLst>
                  <a:ext uri="{FF2B5EF4-FFF2-40B4-BE49-F238E27FC236}">
                    <a16:creationId xmlns:a16="http://schemas.microsoft.com/office/drawing/2014/main" id="{541CB93E-D852-1948-39B5-83302004138A}"/>
                  </a:ext>
                </a:extLst>
              </p:cNvPr>
              <p:cNvSpPr>
                <a:spLocks noChangeArrowheads="1"/>
              </p:cNvSpPr>
              <p:nvPr/>
            </p:nvSpPr>
            <p:spPr bwMode="auto">
              <a:xfrm>
                <a:off x="6227854" y="434653"/>
                <a:ext cx="68310" cy="26023"/>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32" name="Freeform 96">
                <a:extLst>
                  <a:ext uri="{FF2B5EF4-FFF2-40B4-BE49-F238E27FC236}">
                    <a16:creationId xmlns:a16="http://schemas.microsoft.com/office/drawing/2014/main" id="{7DB34CFB-8DCD-1821-EC88-908CF9E350C4}"/>
                  </a:ext>
                </a:extLst>
              </p:cNvPr>
              <p:cNvSpPr>
                <a:spLocks/>
              </p:cNvSpPr>
              <p:nvPr/>
            </p:nvSpPr>
            <p:spPr bwMode="auto">
              <a:xfrm>
                <a:off x="6123763" y="201531"/>
                <a:ext cx="86743" cy="26023"/>
              </a:xfrm>
              <a:custGeom>
                <a:avLst/>
                <a:gdLst>
                  <a:gd name="T0" fmla="*/ 111 w 558"/>
                  <a:gd name="T1" fmla="*/ 0 h 168"/>
                  <a:gd name="T2" fmla="*/ 447 w 558"/>
                  <a:gd name="T3" fmla="*/ 0 h 168"/>
                  <a:gd name="T4" fmla="*/ 472 w 558"/>
                  <a:gd name="T5" fmla="*/ 3 h 168"/>
                  <a:gd name="T6" fmla="*/ 495 w 558"/>
                  <a:gd name="T7" fmla="*/ 12 h 168"/>
                  <a:gd name="T8" fmla="*/ 516 w 558"/>
                  <a:gd name="T9" fmla="*/ 25 h 168"/>
                  <a:gd name="T10" fmla="*/ 533 w 558"/>
                  <a:gd name="T11" fmla="*/ 42 h 168"/>
                  <a:gd name="T12" fmla="*/ 546 w 558"/>
                  <a:gd name="T13" fmla="*/ 63 h 168"/>
                  <a:gd name="T14" fmla="*/ 555 w 558"/>
                  <a:gd name="T15" fmla="*/ 86 h 168"/>
                  <a:gd name="T16" fmla="*/ 558 w 558"/>
                  <a:gd name="T17" fmla="*/ 111 h 168"/>
                  <a:gd name="T18" fmla="*/ 558 w 558"/>
                  <a:gd name="T19" fmla="*/ 168 h 168"/>
                  <a:gd name="T20" fmla="*/ 0 w 558"/>
                  <a:gd name="T21" fmla="*/ 168 h 168"/>
                  <a:gd name="T22" fmla="*/ 0 w 558"/>
                  <a:gd name="T23" fmla="*/ 111 h 168"/>
                  <a:gd name="T24" fmla="*/ 3 w 558"/>
                  <a:gd name="T25" fmla="*/ 86 h 168"/>
                  <a:gd name="T26" fmla="*/ 12 w 558"/>
                  <a:gd name="T27" fmla="*/ 63 h 168"/>
                  <a:gd name="T28" fmla="*/ 25 w 558"/>
                  <a:gd name="T29" fmla="*/ 42 h 168"/>
                  <a:gd name="T30" fmla="*/ 42 w 558"/>
                  <a:gd name="T31" fmla="*/ 25 h 168"/>
                  <a:gd name="T32" fmla="*/ 63 w 558"/>
                  <a:gd name="T33" fmla="*/ 12 h 168"/>
                  <a:gd name="T34" fmla="*/ 86 w 558"/>
                  <a:gd name="T35" fmla="*/ 3 h 168"/>
                  <a:gd name="T36" fmla="*/ 111 w 558"/>
                  <a:gd name="T37" fmla="*/ 0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58" h="168">
                    <a:moveTo>
                      <a:pt x="111" y="0"/>
                    </a:moveTo>
                    <a:lnTo>
                      <a:pt x="447" y="0"/>
                    </a:lnTo>
                    <a:lnTo>
                      <a:pt x="472" y="3"/>
                    </a:lnTo>
                    <a:lnTo>
                      <a:pt x="495" y="12"/>
                    </a:lnTo>
                    <a:lnTo>
                      <a:pt x="516" y="25"/>
                    </a:lnTo>
                    <a:lnTo>
                      <a:pt x="533" y="42"/>
                    </a:lnTo>
                    <a:lnTo>
                      <a:pt x="546" y="63"/>
                    </a:lnTo>
                    <a:lnTo>
                      <a:pt x="555" y="86"/>
                    </a:lnTo>
                    <a:lnTo>
                      <a:pt x="558" y="111"/>
                    </a:lnTo>
                    <a:lnTo>
                      <a:pt x="558" y="168"/>
                    </a:lnTo>
                    <a:lnTo>
                      <a:pt x="0" y="168"/>
                    </a:lnTo>
                    <a:lnTo>
                      <a:pt x="0" y="111"/>
                    </a:lnTo>
                    <a:lnTo>
                      <a:pt x="3" y="86"/>
                    </a:lnTo>
                    <a:lnTo>
                      <a:pt x="12" y="63"/>
                    </a:lnTo>
                    <a:lnTo>
                      <a:pt x="25" y="42"/>
                    </a:lnTo>
                    <a:lnTo>
                      <a:pt x="42" y="25"/>
                    </a:lnTo>
                    <a:lnTo>
                      <a:pt x="63" y="12"/>
                    </a:lnTo>
                    <a:lnTo>
                      <a:pt x="86" y="3"/>
                    </a:lnTo>
                    <a:lnTo>
                      <a:pt x="1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39" name="Rectangle 97">
                <a:extLst>
                  <a:ext uri="{FF2B5EF4-FFF2-40B4-BE49-F238E27FC236}">
                    <a16:creationId xmlns:a16="http://schemas.microsoft.com/office/drawing/2014/main" id="{798ED7A8-6B9F-0915-F7E1-730211D5BF23}"/>
                  </a:ext>
                </a:extLst>
              </p:cNvPr>
              <p:cNvSpPr>
                <a:spLocks noChangeArrowheads="1"/>
              </p:cNvSpPr>
              <p:nvPr/>
            </p:nvSpPr>
            <p:spPr bwMode="auto">
              <a:xfrm>
                <a:off x="6123763" y="252493"/>
                <a:ext cx="86743" cy="156137"/>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42" name="Freeform 98">
                <a:extLst>
                  <a:ext uri="{FF2B5EF4-FFF2-40B4-BE49-F238E27FC236}">
                    <a16:creationId xmlns:a16="http://schemas.microsoft.com/office/drawing/2014/main" id="{0E282DB6-C244-59BF-6733-20E8FE222186}"/>
                  </a:ext>
                </a:extLst>
              </p:cNvPr>
              <p:cNvSpPr>
                <a:spLocks/>
              </p:cNvSpPr>
              <p:nvPr/>
            </p:nvSpPr>
            <p:spPr bwMode="auto">
              <a:xfrm>
                <a:off x="6227854" y="236229"/>
                <a:ext cx="68310" cy="24939"/>
              </a:xfrm>
              <a:custGeom>
                <a:avLst/>
                <a:gdLst>
                  <a:gd name="T0" fmla="*/ 111 w 445"/>
                  <a:gd name="T1" fmla="*/ 0 h 166"/>
                  <a:gd name="T2" fmla="*/ 334 w 445"/>
                  <a:gd name="T3" fmla="*/ 0 h 166"/>
                  <a:gd name="T4" fmla="*/ 360 w 445"/>
                  <a:gd name="T5" fmla="*/ 2 h 166"/>
                  <a:gd name="T6" fmla="*/ 384 w 445"/>
                  <a:gd name="T7" fmla="*/ 11 h 166"/>
                  <a:gd name="T8" fmla="*/ 404 w 445"/>
                  <a:gd name="T9" fmla="*/ 24 h 166"/>
                  <a:gd name="T10" fmla="*/ 421 w 445"/>
                  <a:gd name="T11" fmla="*/ 41 h 166"/>
                  <a:gd name="T12" fmla="*/ 434 w 445"/>
                  <a:gd name="T13" fmla="*/ 61 h 166"/>
                  <a:gd name="T14" fmla="*/ 443 w 445"/>
                  <a:gd name="T15" fmla="*/ 85 h 166"/>
                  <a:gd name="T16" fmla="*/ 445 w 445"/>
                  <a:gd name="T17" fmla="*/ 111 h 166"/>
                  <a:gd name="T18" fmla="*/ 445 w 445"/>
                  <a:gd name="T19" fmla="*/ 166 h 166"/>
                  <a:gd name="T20" fmla="*/ 0 w 445"/>
                  <a:gd name="T21" fmla="*/ 166 h 166"/>
                  <a:gd name="T22" fmla="*/ 0 w 445"/>
                  <a:gd name="T23" fmla="*/ 111 h 166"/>
                  <a:gd name="T24" fmla="*/ 3 w 445"/>
                  <a:gd name="T25" fmla="*/ 85 h 166"/>
                  <a:gd name="T26" fmla="*/ 10 w 445"/>
                  <a:gd name="T27" fmla="*/ 61 h 166"/>
                  <a:gd name="T28" fmla="*/ 24 w 445"/>
                  <a:gd name="T29" fmla="*/ 41 h 166"/>
                  <a:gd name="T30" fmla="*/ 42 w 445"/>
                  <a:gd name="T31" fmla="*/ 24 h 166"/>
                  <a:gd name="T32" fmla="*/ 62 w 445"/>
                  <a:gd name="T33" fmla="*/ 11 h 166"/>
                  <a:gd name="T34" fmla="*/ 85 w 445"/>
                  <a:gd name="T35" fmla="*/ 2 h 166"/>
                  <a:gd name="T36" fmla="*/ 111 w 445"/>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5" h="166">
                    <a:moveTo>
                      <a:pt x="111" y="0"/>
                    </a:moveTo>
                    <a:lnTo>
                      <a:pt x="334" y="0"/>
                    </a:lnTo>
                    <a:lnTo>
                      <a:pt x="360" y="2"/>
                    </a:lnTo>
                    <a:lnTo>
                      <a:pt x="384" y="11"/>
                    </a:lnTo>
                    <a:lnTo>
                      <a:pt x="404" y="24"/>
                    </a:lnTo>
                    <a:lnTo>
                      <a:pt x="421" y="41"/>
                    </a:lnTo>
                    <a:lnTo>
                      <a:pt x="434" y="61"/>
                    </a:lnTo>
                    <a:lnTo>
                      <a:pt x="443" y="85"/>
                    </a:lnTo>
                    <a:lnTo>
                      <a:pt x="445" y="111"/>
                    </a:lnTo>
                    <a:lnTo>
                      <a:pt x="445" y="166"/>
                    </a:lnTo>
                    <a:lnTo>
                      <a:pt x="0" y="166"/>
                    </a:lnTo>
                    <a:lnTo>
                      <a:pt x="0" y="111"/>
                    </a:lnTo>
                    <a:lnTo>
                      <a:pt x="3" y="85"/>
                    </a:lnTo>
                    <a:lnTo>
                      <a:pt x="10" y="61"/>
                    </a:lnTo>
                    <a:lnTo>
                      <a:pt x="24" y="41"/>
                    </a:lnTo>
                    <a:lnTo>
                      <a:pt x="42" y="24"/>
                    </a:lnTo>
                    <a:lnTo>
                      <a:pt x="62" y="11"/>
                    </a:lnTo>
                    <a:lnTo>
                      <a:pt x="85" y="2"/>
                    </a:lnTo>
                    <a:lnTo>
                      <a:pt x="1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45" name="Rectangle 99">
                <a:extLst>
                  <a:ext uri="{FF2B5EF4-FFF2-40B4-BE49-F238E27FC236}">
                    <a16:creationId xmlns:a16="http://schemas.microsoft.com/office/drawing/2014/main" id="{BC9F6E88-605B-149F-A538-5972DE8D3174}"/>
                  </a:ext>
                </a:extLst>
              </p:cNvPr>
              <p:cNvSpPr>
                <a:spLocks noChangeArrowheads="1"/>
              </p:cNvSpPr>
              <p:nvPr/>
            </p:nvSpPr>
            <p:spPr bwMode="auto">
              <a:xfrm>
                <a:off x="6227854" y="287190"/>
                <a:ext cx="68310" cy="121440"/>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46" name="Rectangle 100">
                <a:extLst>
                  <a:ext uri="{FF2B5EF4-FFF2-40B4-BE49-F238E27FC236}">
                    <a16:creationId xmlns:a16="http://schemas.microsoft.com/office/drawing/2014/main" id="{3AD70BEC-0F0F-5FD4-736D-40F78B5DF075}"/>
                  </a:ext>
                </a:extLst>
              </p:cNvPr>
              <p:cNvSpPr>
                <a:spLocks noChangeArrowheads="1"/>
              </p:cNvSpPr>
              <p:nvPr/>
            </p:nvSpPr>
            <p:spPr bwMode="auto">
              <a:xfrm>
                <a:off x="6123763" y="434653"/>
                <a:ext cx="86743" cy="26023"/>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47" name="Freeform 101">
                <a:extLst>
                  <a:ext uri="{FF2B5EF4-FFF2-40B4-BE49-F238E27FC236}">
                    <a16:creationId xmlns:a16="http://schemas.microsoft.com/office/drawing/2014/main" id="{CC7ADE88-795E-0F40-5773-1E56F5EDC268}"/>
                  </a:ext>
                </a:extLst>
              </p:cNvPr>
              <p:cNvSpPr>
                <a:spLocks/>
              </p:cNvSpPr>
              <p:nvPr/>
            </p:nvSpPr>
            <p:spPr bwMode="auto">
              <a:xfrm>
                <a:off x="6038104" y="269841"/>
                <a:ext cx="68310" cy="26023"/>
              </a:xfrm>
              <a:custGeom>
                <a:avLst/>
                <a:gdLst>
                  <a:gd name="T0" fmla="*/ 111 w 445"/>
                  <a:gd name="T1" fmla="*/ 0 h 167"/>
                  <a:gd name="T2" fmla="*/ 334 w 445"/>
                  <a:gd name="T3" fmla="*/ 0 h 167"/>
                  <a:gd name="T4" fmla="*/ 360 w 445"/>
                  <a:gd name="T5" fmla="*/ 3 h 167"/>
                  <a:gd name="T6" fmla="*/ 383 w 445"/>
                  <a:gd name="T7" fmla="*/ 10 h 167"/>
                  <a:gd name="T8" fmla="*/ 403 w 445"/>
                  <a:gd name="T9" fmla="*/ 24 h 167"/>
                  <a:gd name="T10" fmla="*/ 421 w 445"/>
                  <a:gd name="T11" fmla="*/ 41 h 167"/>
                  <a:gd name="T12" fmla="*/ 435 w 445"/>
                  <a:gd name="T13" fmla="*/ 62 h 167"/>
                  <a:gd name="T14" fmla="*/ 442 w 445"/>
                  <a:gd name="T15" fmla="*/ 85 h 167"/>
                  <a:gd name="T16" fmla="*/ 445 w 445"/>
                  <a:gd name="T17" fmla="*/ 111 h 167"/>
                  <a:gd name="T18" fmla="*/ 445 w 445"/>
                  <a:gd name="T19" fmla="*/ 167 h 167"/>
                  <a:gd name="T20" fmla="*/ 0 w 445"/>
                  <a:gd name="T21" fmla="*/ 167 h 167"/>
                  <a:gd name="T22" fmla="*/ 0 w 445"/>
                  <a:gd name="T23" fmla="*/ 111 h 167"/>
                  <a:gd name="T24" fmla="*/ 2 w 445"/>
                  <a:gd name="T25" fmla="*/ 85 h 167"/>
                  <a:gd name="T26" fmla="*/ 11 w 445"/>
                  <a:gd name="T27" fmla="*/ 62 h 167"/>
                  <a:gd name="T28" fmla="*/ 24 w 445"/>
                  <a:gd name="T29" fmla="*/ 41 h 167"/>
                  <a:gd name="T30" fmla="*/ 41 w 445"/>
                  <a:gd name="T31" fmla="*/ 24 h 167"/>
                  <a:gd name="T32" fmla="*/ 61 w 445"/>
                  <a:gd name="T33" fmla="*/ 10 h 167"/>
                  <a:gd name="T34" fmla="*/ 85 w 445"/>
                  <a:gd name="T35" fmla="*/ 3 h 167"/>
                  <a:gd name="T36" fmla="*/ 111 w 445"/>
                  <a:gd name="T37"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5" h="167">
                    <a:moveTo>
                      <a:pt x="111" y="0"/>
                    </a:moveTo>
                    <a:lnTo>
                      <a:pt x="334" y="0"/>
                    </a:lnTo>
                    <a:lnTo>
                      <a:pt x="360" y="3"/>
                    </a:lnTo>
                    <a:lnTo>
                      <a:pt x="383" y="10"/>
                    </a:lnTo>
                    <a:lnTo>
                      <a:pt x="403" y="24"/>
                    </a:lnTo>
                    <a:lnTo>
                      <a:pt x="421" y="41"/>
                    </a:lnTo>
                    <a:lnTo>
                      <a:pt x="435" y="62"/>
                    </a:lnTo>
                    <a:lnTo>
                      <a:pt x="442" y="85"/>
                    </a:lnTo>
                    <a:lnTo>
                      <a:pt x="445" y="111"/>
                    </a:lnTo>
                    <a:lnTo>
                      <a:pt x="445" y="167"/>
                    </a:lnTo>
                    <a:lnTo>
                      <a:pt x="0" y="167"/>
                    </a:lnTo>
                    <a:lnTo>
                      <a:pt x="0" y="111"/>
                    </a:lnTo>
                    <a:lnTo>
                      <a:pt x="2" y="85"/>
                    </a:lnTo>
                    <a:lnTo>
                      <a:pt x="11" y="62"/>
                    </a:lnTo>
                    <a:lnTo>
                      <a:pt x="24" y="41"/>
                    </a:lnTo>
                    <a:lnTo>
                      <a:pt x="41" y="24"/>
                    </a:lnTo>
                    <a:lnTo>
                      <a:pt x="61" y="10"/>
                    </a:lnTo>
                    <a:lnTo>
                      <a:pt x="85" y="3"/>
                    </a:lnTo>
                    <a:lnTo>
                      <a:pt x="1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50" name="Freeform 102">
                <a:extLst>
                  <a:ext uri="{FF2B5EF4-FFF2-40B4-BE49-F238E27FC236}">
                    <a16:creationId xmlns:a16="http://schemas.microsoft.com/office/drawing/2014/main" id="{A08E7BE6-0255-24AC-5E9D-741D363116EF}"/>
                  </a:ext>
                </a:extLst>
              </p:cNvPr>
              <p:cNvSpPr>
                <a:spLocks/>
              </p:cNvSpPr>
              <p:nvPr/>
            </p:nvSpPr>
            <p:spPr bwMode="auto">
              <a:xfrm>
                <a:off x="5994732" y="478024"/>
                <a:ext cx="344803" cy="34697"/>
              </a:xfrm>
              <a:custGeom>
                <a:avLst/>
                <a:gdLst>
                  <a:gd name="T0" fmla="*/ 111 w 2230"/>
                  <a:gd name="T1" fmla="*/ 0 h 224"/>
                  <a:gd name="T2" fmla="*/ 2119 w 2230"/>
                  <a:gd name="T3" fmla="*/ 0 h 224"/>
                  <a:gd name="T4" fmla="*/ 2145 w 2230"/>
                  <a:gd name="T5" fmla="*/ 3 h 224"/>
                  <a:gd name="T6" fmla="*/ 2168 w 2230"/>
                  <a:gd name="T7" fmla="*/ 12 h 224"/>
                  <a:gd name="T8" fmla="*/ 2189 w 2230"/>
                  <a:gd name="T9" fmla="*/ 25 h 224"/>
                  <a:gd name="T10" fmla="*/ 2207 w 2230"/>
                  <a:gd name="T11" fmla="*/ 42 h 224"/>
                  <a:gd name="T12" fmla="*/ 2220 w 2230"/>
                  <a:gd name="T13" fmla="*/ 63 h 224"/>
                  <a:gd name="T14" fmla="*/ 2228 w 2230"/>
                  <a:gd name="T15" fmla="*/ 86 h 224"/>
                  <a:gd name="T16" fmla="*/ 2230 w 2230"/>
                  <a:gd name="T17" fmla="*/ 111 h 224"/>
                  <a:gd name="T18" fmla="*/ 2228 w 2230"/>
                  <a:gd name="T19" fmla="*/ 137 h 224"/>
                  <a:gd name="T20" fmla="*/ 2220 w 2230"/>
                  <a:gd name="T21" fmla="*/ 161 h 224"/>
                  <a:gd name="T22" fmla="*/ 2207 w 2230"/>
                  <a:gd name="T23" fmla="*/ 182 h 224"/>
                  <a:gd name="T24" fmla="*/ 2189 w 2230"/>
                  <a:gd name="T25" fmla="*/ 199 h 224"/>
                  <a:gd name="T26" fmla="*/ 2168 w 2230"/>
                  <a:gd name="T27" fmla="*/ 212 h 224"/>
                  <a:gd name="T28" fmla="*/ 2145 w 2230"/>
                  <a:gd name="T29" fmla="*/ 221 h 224"/>
                  <a:gd name="T30" fmla="*/ 2119 w 2230"/>
                  <a:gd name="T31" fmla="*/ 224 h 224"/>
                  <a:gd name="T32" fmla="*/ 111 w 2230"/>
                  <a:gd name="T33" fmla="*/ 224 h 224"/>
                  <a:gd name="T34" fmla="*/ 85 w 2230"/>
                  <a:gd name="T35" fmla="*/ 221 h 224"/>
                  <a:gd name="T36" fmla="*/ 62 w 2230"/>
                  <a:gd name="T37" fmla="*/ 212 h 224"/>
                  <a:gd name="T38" fmla="*/ 41 w 2230"/>
                  <a:gd name="T39" fmla="*/ 199 h 224"/>
                  <a:gd name="T40" fmla="*/ 23 w 2230"/>
                  <a:gd name="T41" fmla="*/ 182 h 224"/>
                  <a:gd name="T42" fmla="*/ 10 w 2230"/>
                  <a:gd name="T43" fmla="*/ 161 h 224"/>
                  <a:gd name="T44" fmla="*/ 2 w 2230"/>
                  <a:gd name="T45" fmla="*/ 137 h 224"/>
                  <a:gd name="T46" fmla="*/ 0 w 2230"/>
                  <a:gd name="T47" fmla="*/ 111 h 224"/>
                  <a:gd name="T48" fmla="*/ 2 w 2230"/>
                  <a:gd name="T49" fmla="*/ 86 h 224"/>
                  <a:gd name="T50" fmla="*/ 10 w 2230"/>
                  <a:gd name="T51" fmla="*/ 63 h 224"/>
                  <a:gd name="T52" fmla="*/ 23 w 2230"/>
                  <a:gd name="T53" fmla="*/ 42 h 224"/>
                  <a:gd name="T54" fmla="*/ 41 w 2230"/>
                  <a:gd name="T55" fmla="*/ 25 h 224"/>
                  <a:gd name="T56" fmla="*/ 62 w 2230"/>
                  <a:gd name="T57" fmla="*/ 12 h 224"/>
                  <a:gd name="T58" fmla="*/ 85 w 2230"/>
                  <a:gd name="T59" fmla="*/ 3 h 224"/>
                  <a:gd name="T60" fmla="*/ 111 w 2230"/>
                  <a:gd name="T61" fmla="*/ 0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30" h="224">
                    <a:moveTo>
                      <a:pt x="111" y="0"/>
                    </a:moveTo>
                    <a:lnTo>
                      <a:pt x="2119" y="0"/>
                    </a:lnTo>
                    <a:lnTo>
                      <a:pt x="2145" y="3"/>
                    </a:lnTo>
                    <a:lnTo>
                      <a:pt x="2168" y="12"/>
                    </a:lnTo>
                    <a:lnTo>
                      <a:pt x="2189" y="25"/>
                    </a:lnTo>
                    <a:lnTo>
                      <a:pt x="2207" y="42"/>
                    </a:lnTo>
                    <a:lnTo>
                      <a:pt x="2220" y="63"/>
                    </a:lnTo>
                    <a:lnTo>
                      <a:pt x="2228" y="86"/>
                    </a:lnTo>
                    <a:lnTo>
                      <a:pt x="2230" y="111"/>
                    </a:lnTo>
                    <a:lnTo>
                      <a:pt x="2228" y="137"/>
                    </a:lnTo>
                    <a:lnTo>
                      <a:pt x="2220" y="161"/>
                    </a:lnTo>
                    <a:lnTo>
                      <a:pt x="2207" y="182"/>
                    </a:lnTo>
                    <a:lnTo>
                      <a:pt x="2189" y="199"/>
                    </a:lnTo>
                    <a:lnTo>
                      <a:pt x="2168" y="212"/>
                    </a:lnTo>
                    <a:lnTo>
                      <a:pt x="2145" y="221"/>
                    </a:lnTo>
                    <a:lnTo>
                      <a:pt x="2119" y="224"/>
                    </a:lnTo>
                    <a:lnTo>
                      <a:pt x="111" y="224"/>
                    </a:lnTo>
                    <a:lnTo>
                      <a:pt x="85" y="221"/>
                    </a:lnTo>
                    <a:lnTo>
                      <a:pt x="62" y="212"/>
                    </a:lnTo>
                    <a:lnTo>
                      <a:pt x="41" y="199"/>
                    </a:lnTo>
                    <a:lnTo>
                      <a:pt x="23" y="182"/>
                    </a:lnTo>
                    <a:lnTo>
                      <a:pt x="10" y="161"/>
                    </a:lnTo>
                    <a:lnTo>
                      <a:pt x="2" y="137"/>
                    </a:lnTo>
                    <a:lnTo>
                      <a:pt x="0" y="111"/>
                    </a:lnTo>
                    <a:lnTo>
                      <a:pt x="2" y="86"/>
                    </a:lnTo>
                    <a:lnTo>
                      <a:pt x="10" y="63"/>
                    </a:lnTo>
                    <a:lnTo>
                      <a:pt x="23" y="42"/>
                    </a:lnTo>
                    <a:lnTo>
                      <a:pt x="41" y="25"/>
                    </a:lnTo>
                    <a:lnTo>
                      <a:pt x="62" y="12"/>
                    </a:lnTo>
                    <a:lnTo>
                      <a:pt x="85" y="3"/>
                    </a:lnTo>
                    <a:lnTo>
                      <a:pt x="1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51" name="Rectangle 103">
                <a:extLst>
                  <a:ext uri="{FF2B5EF4-FFF2-40B4-BE49-F238E27FC236}">
                    <a16:creationId xmlns:a16="http://schemas.microsoft.com/office/drawing/2014/main" id="{5C8BDEB4-5423-1B12-EB2F-0D6D5128A2CC}"/>
                  </a:ext>
                </a:extLst>
              </p:cNvPr>
              <p:cNvSpPr>
                <a:spLocks noChangeArrowheads="1"/>
              </p:cNvSpPr>
              <p:nvPr/>
            </p:nvSpPr>
            <p:spPr bwMode="auto">
              <a:xfrm>
                <a:off x="6038104" y="321887"/>
                <a:ext cx="68310" cy="86743"/>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52" name="Rectangle 104">
                <a:extLst>
                  <a:ext uri="{FF2B5EF4-FFF2-40B4-BE49-F238E27FC236}">
                    <a16:creationId xmlns:a16="http://schemas.microsoft.com/office/drawing/2014/main" id="{276C37BD-AD2C-53AA-87D7-739ACFDC9464}"/>
                  </a:ext>
                </a:extLst>
              </p:cNvPr>
              <p:cNvSpPr>
                <a:spLocks noChangeArrowheads="1"/>
              </p:cNvSpPr>
              <p:nvPr/>
            </p:nvSpPr>
            <p:spPr bwMode="auto">
              <a:xfrm>
                <a:off x="6038104" y="434653"/>
                <a:ext cx="68310" cy="26023"/>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Text" lastClr="000000"/>
                  </a:solidFill>
                  <a:effectLst/>
                  <a:uLnTx/>
                  <a:uFillTx/>
                  <a:latin typeface="Arial"/>
                  <a:ea typeface="+mn-ea"/>
                  <a:cs typeface="+mn-cs"/>
                </a:endParaRPr>
              </a:p>
            </p:txBody>
          </p:sp>
        </p:grpSp>
      </p:grpSp>
      <p:sp>
        <p:nvSpPr>
          <p:cNvPr id="41" name="Rectangle 40">
            <a:extLst>
              <a:ext uri="{FF2B5EF4-FFF2-40B4-BE49-F238E27FC236}">
                <a16:creationId xmlns:a16="http://schemas.microsoft.com/office/drawing/2014/main" id="{9B37986B-7509-05C9-2694-6D4BDC65E621}"/>
              </a:ext>
            </a:extLst>
          </p:cNvPr>
          <p:cNvSpPr/>
          <p:nvPr>
            <p:custDataLst>
              <p:tags r:id="rId5"/>
            </p:custDataLst>
          </p:nvPr>
        </p:nvSpPr>
        <p:spPr>
          <a:xfrm>
            <a:off x="-4502" y="496877"/>
            <a:ext cx="2527765" cy="447589"/>
          </a:xfrm>
          <a:prstGeom prst="rect">
            <a:avLst/>
          </a:prstGeom>
          <a:solidFill>
            <a:srgbClr val="CC0033"/>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fr-FR" sz="1300" b="1" kern="0" dirty="0">
                <a:solidFill>
                  <a:srgbClr val="FFFFFF"/>
                </a:solidFill>
                <a:latin typeface="Arial"/>
              </a:rPr>
              <a:t>Langues</a:t>
            </a:r>
            <a:endParaRPr kumimoji="0" lang="fr-FR" sz="1300" b="1" i="0" u="none" strike="noStrike" kern="0" cap="none" spc="0" normalizeH="0" baseline="0" noProof="0" dirty="0">
              <a:ln>
                <a:noFill/>
              </a:ln>
              <a:solidFill>
                <a:srgbClr val="FFFFFF"/>
              </a:solidFill>
              <a:effectLst/>
              <a:uLnTx/>
              <a:uFillTx/>
              <a:latin typeface="Arial"/>
              <a:ea typeface="+mn-ea"/>
              <a:cs typeface="+mn-cs"/>
            </a:endParaRPr>
          </a:p>
        </p:txBody>
      </p:sp>
      <p:sp>
        <p:nvSpPr>
          <p:cNvPr id="43" name="Freeform 15">
            <a:extLst>
              <a:ext uri="{FF2B5EF4-FFF2-40B4-BE49-F238E27FC236}">
                <a16:creationId xmlns:a16="http://schemas.microsoft.com/office/drawing/2014/main" id="{36D8D349-3EA0-56F6-9288-9756EA1F51C9}"/>
              </a:ext>
            </a:extLst>
          </p:cNvPr>
          <p:cNvSpPr>
            <a:spLocks/>
          </p:cNvSpPr>
          <p:nvPr/>
        </p:nvSpPr>
        <p:spPr bwMode="auto">
          <a:xfrm>
            <a:off x="642979" y="1433872"/>
            <a:ext cx="0" cy="2962"/>
          </a:xfrm>
          <a:custGeom>
            <a:avLst/>
            <a:gdLst>
              <a:gd name="T0" fmla="*/ 0 h 26"/>
              <a:gd name="T1" fmla="*/ 21 h 26"/>
              <a:gd name="T2" fmla="*/ 26 h 26"/>
              <a:gd name="T3" fmla="*/ 0 h 26"/>
            </a:gdLst>
            <a:ahLst/>
            <a:cxnLst>
              <a:cxn ang="0">
                <a:pos x="0" y="T0"/>
              </a:cxn>
              <a:cxn ang="0">
                <a:pos x="0" y="T1"/>
              </a:cxn>
              <a:cxn ang="0">
                <a:pos x="0" y="T2"/>
              </a:cxn>
              <a:cxn ang="0">
                <a:pos x="0" y="T3"/>
              </a:cxn>
            </a:cxnLst>
            <a:rect l="0" t="0" r="r" b="b"/>
            <a:pathLst>
              <a:path h="26">
                <a:moveTo>
                  <a:pt x="0" y="0"/>
                </a:moveTo>
                <a:lnTo>
                  <a:pt x="0" y="21"/>
                </a:lnTo>
                <a:lnTo>
                  <a:pt x="0" y="26"/>
                </a:lnTo>
                <a:lnTo>
                  <a:pt x="0" y="0"/>
                </a:lnTo>
                <a:close/>
              </a:path>
            </a:pathLst>
          </a:custGeom>
          <a:noFill/>
          <a:ln w="0">
            <a:solidFill>
              <a:schemeClr val="bg1">
                <a:lumMod val="50000"/>
              </a:scheme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44" name="Freeform 18">
            <a:extLst>
              <a:ext uri="{FF2B5EF4-FFF2-40B4-BE49-F238E27FC236}">
                <a16:creationId xmlns:a16="http://schemas.microsoft.com/office/drawing/2014/main" id="{C3E8101E-C609-8517-C510-264E7C47F209}"/>
              </a:ext>
            </a:extLst>
          </p:cNvPr>
          <p:cNvSpPr>
            <a:spLocks/>
          </p:cNvSpPr>
          <p:nvPr/>
        </p:nvSpPr>
        <p:spPr bwMode="auto">
          <a:xfrm>
            <a:off x="991771" y="1258069"/>
            <a:ext cx="0" cy="3703"/>
          </a:xfrm>
          <a:custGeom>
            <a:avLst/>
            <a:gdLst>
              <a:gd name="T0" fmla="*/ 1 w 1"/>
              <a:gd name="T1" fmla="*/ 0 h 35"/>
              <a:gd name="T2" fmla="*/ 1 w 1"/>
              <a:gd name="T3" fmla="*/ 5 h 35"/>
              <a:gd name="T4" fmla="*/ 1 w 1"/>
              <a:gd name="T5" fmla="*/ 35 h 35"/>
              <a:gd name="T6" fmla="*/ 1 w 1"/>
              <a:gd name="T7" fmla="*/ 31 h 35"/>
              <a:gd name="T8" fmla="*/ 0 w 1"/>
              <a:gd name="T9" fmla="*/ 26 h 35"/>
              <a:gd name="T10" fmla="*/ 1 w 1"/>
              <a:gd name="T11" fmla="*/ 0 h 35"/>
            </a:gdLst>
            <a:ahLst/>
            <a:cxnLst>
              <a:cxn ang="0">
                <a:pos x="T0" y="T1"/>
              </a:cxn>
              <a:cxn ang="0">
                <a:pos x="T2" y="T3"/>
              </a:cxn>
              <a:cxn ang="0">
                <a:pos x="T4" y="T5"/>
              </a:cxn>
              <a:cxn ang="0">
                <a:pos x="T6" y="T7"/>
              </a:cxn>
              <a:cxn ang="0">
                <a:pos x="T8" y="T9"/>
              </a:cxn>
              <a:cxn ang="0">
                <a:pos x="T10" y="T11"/>
              </a:cxn>
            </a:cxnLst>
            <a:rect l="0" t="0" r="r" b="b"/>
            <a:pathLst>
              <a:path w="1" h="35">
                <a:moveTo>
                  <a:pt x="1" y="0"/>
                </a:moveTo>
                <a:lnTo>
                  <a:pt x="1" y="5"/>
                </a:lnTo>
                <a:lnTo>
                  <a:pt x="1" y="35"/>
                </a:lnTo>
                <a:lnTo>
                  <a:pt x="1" y="31"/>
                </a:lnTo>
                <a:lnTo>
                  <a:pt x="0" y="26"/>
                </a:lnTo>
                <a:lnTo>
                  <a:pt x="1" y="0"/>
                </a:lnTo>
                <a:close/>
              </a:path>
            </a:pathLst>
          </a:custGeom>
          <a:noFill/>
          <a:ln w="0">
            <a:solidFill>
              <a:schemeClr val="bg1">
                <a:lumMod val="50000"/>
              </a:scheme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48" name="Freeform 19">
            <a:extLst>
              <a:ext uri="{FF2B5EF4-FFF2-40B4-BE49-F238E27FC236}">
                <a16:creationId xmlns:a16="http://schemas.microsoft.com/office/drawing/2014/main" id="{CF52A832-503E-13A2-3D21-5A38A69E7A2A}"/>
              </a:ext>
            </a:extLst>
          </p:cNvPr>
          <p:cNvSpPr>
            <a:spLocks/>
          </p:cNvSpPr>
          <p:nvPr/>
        </p:nvSpPr>
        <p:spPr bwMode="auto">
          <a:xfrm>
            <a:off x="642979" y="1436093"/>
            <a:ext cx="0" cy="3703"/>
          </a:xfrm>
          <a:custGeom>
            <a:avLst/>
            <a:gdLst>
              <a:gd name="T0" fmla="*/ 0 w 1"/>
              <a:gd name="T1" fmla="*/ 0 h 35"/>
              <a:gd name="T2" fmla="*/ 1 w 1"/>
              <a:gd name="T3" fmla="*/ 26 h 35"/>
              <a:gd name="T4" fmla="*/ 0 w 1"/>
              <a:gd name="T5" fmla="*/ 31 h 35"/>
              <a:gd name="T6" fmla="*/ 0 w 1"/>
              <a:gd name="T7" fmla="*/ 35 h 35"/>
              <a:gd name="T8" fmla="*/ 0 w 1"/>
              <a:gd name="T9" fmla="*/ 5 h 35"/>
              <a:gd name="T10" fmla="*/ 0 w 1"/>
              <a:gd name="T11" fmla="*/ 0 h 35"/>
            </a:gdLst>
            <a:ahLst/>
            <a:cxnLst>
              <a:cxn ang="0">
                <a:pos x="T0" y="T1"/>
              </a:cxn>
              <a:cxn ang="0">
                <a:pos x="T2" y="T3"/>
              </a:cxn>
              <a:cxn ang="0">
                <a:pos x="T4" y="T5"/>
              </a:cxn>
              <a:cxn ang="0">
                <a:pos x="T6" y="T7"/>
              </a:cxn>
              <a:cxn ang="0">
                <a:pos x="T8" y="T9"/>
              </a:cxn>
              <a:cxn ang="0">
                <a:pos x="T10" y="T11"/>
              </a:cxn>
            </a:cxnLst>
            <a:rect l="0" t="0" r="r" b="b"/>
            <a:pathLst>
              <a:path w="1" h="35">
                <a:moveTo>
                  <a:pt x="0" y="0"/>
                </a:moveTo>
                <a:lnTo>
                  <a:pt x="1" y="26"/>
                </a:lnTo>
                <a:lnTo>
                  <a:pt x="0" y="31"/>
                </a:lnTo>
                <a:lnTo>
                  <a:pt x="0" y="35"/>
                </a:lnTo>
                <a:lnTo>
                  <a:pt x="0" y="5"/>
                </a:lnTo>
                <a:lnTo>
                  <a:pt x="0" y="0"/>
                </a:lnTo>
                <a:close/>
              </a:path>
            </a:pathLst>
          </a:custGeom>
          <a:noFill/>
          <a:ln w="0">
            <a:solidFill>
              <a:schemeClr val="bg1">
                <a:lumMod val="50000"/>
              </a:scheme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latin typeface="Arial"/>
              <a:ea typeface="+mn-ea"/>
              <a:cs typeface="+mn-cs"/>
            </a:endParaRPr>
          </a:p>
        </p:txBody>
      </p:sp>
      <p:sp>
        <p:nvSpPr>
          <p:cNvPr id="49" name="TextBox 103">
            <a:extLst>
              <a:ext uri="{FF2B5EF4-FFF2-40B4-BE49-F238E27FC236}">
                <a16:creationId xmlns:a16="http://schemas.microsoft.com/office/drawing/2014/main" id="{5CBB2A48-7759-E78D-B164-32E614356076}"/>
              </a:ext>
            </a:extLst>
          </p:cNvPr>
          <p:cNvSpPr txBox="1"/>
          <p:nvPr/>
        </p:nvSpPr>
        <p:spPr>
          <a:xfrm>
            <a:off x="5027" y="1023797"/>
            <a:ext cx="772969"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0" noProof="0" dirty="0" err="1">
                <a:solidFill>
                  <a:srgbClr val="FFFFFF"/>
                </a:solidFill>
                <a:latin typeface="Arial"/>
              </a:rPr>
              <a:t>Français</a:t>
            </a:r>
            <a:endParaRPr kumimoji="0" lang="en-US" sz="1200" b="0" i="0" u="none" strike="noStrike" kern="0" cap="none" spc="0" normalizeH="0" baseline="0" noProof="0" dirty="0">
              <a:ln>
                <a:noFill/>
              </a:ln>
              <a:solidFill>
                <a:srgbClr val="FFFFFF"/>
              </a:solidFill>
              <a:effectLst/>
              <a:uLnTx/>
              <a:uFillTx/>
              <a:latin typeface="Arial"/>
            </a:endParaRPr>
          </a:p>
        </p:txBody>
      </p:sp>
      <p:sp>
        <p:nvSpPr>
          <p:cNvPr id="53" name="TextBox 103">
            <a:extLst>
              <a:ext uri="{FF2B5EF4-FFF2-40B4-BE49-F238E27FC236}">
                <a16:creationId xmlns:a16="http://schemas.microsoft.com/office/drawing/2014/main" id="{EE6AB42D-84DF-3443-8006-AE59FD7CAE49}"/>
              </a:ext>
            </a:extLst>
          </p:cNvPr>
          <p:cNvSpPr txBox="1"/>
          <p:nvPr/>
        </p:nvSpPr>
        <p:spPr>
          <a:xfrm>
            <a:off x="6348" y="1440733"/>
            <a:ext cx="686406"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0" dirty="0" err="1">
                <a:solidFill>
                  <a:srgbClr val="FFFFFF"/>
                </a:solidFill>
                <a:latin typeface="Arial"/>
              </a:rPr>
              <a:t>Anglais</a:t>
            </a:r>
            <a:endParaRPr lang="en-US" sz="1200" kern="0" noProof="0" dirty="0">
              <a:solidFill>
                <a:srgbClr val="FFFFFF"/>
              </a:solidFill>
              <a:latin typeface="Arial"/>
            </a:endParaRPr>
          </a:p>
        </p:txBody>
      </p:sp>
      <p:sp>
        <p:nvSpPr>
          <p:cNvPr id="54" name="Organigramme : Connecteur 53">
            <a:extLst>
              <a:ext uri="{FF2B5EF4-FFF2-40B4-BE49-F238E27FC236}">
                <a16:creationId xmlns:a16="http://schemas.microsoft.com/office/drawing/2014/main" id="{92AA25CE-E81F-6A3A-0618-C4E48BA27556}"/>
              </a:ext>
            </a:extLst>
          </p:cNvPr>
          <p:cNvSpPr/>
          <p:nvPr/>
        </p:nvSpPr>
        <p:spPr>
          <a:xfrm>
            <a:off x="972438" y="1124457"/>
            <a:ext cx="150590" cy="150590"/>
          </a:xfrm>
          <a:prstGeom prst="flowChartConnector">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Organigramme : Connecteur 54">
            <a:extLst>
              <a:ext uri="{FF2B5EF4-FFF2-40B4-BE49-F238E27FC236}">
                <a16:creationId xmlns:a16="http://schemas.microsoft.com/office/drawing/2014/main" id="{0DD87702-2C36-1877-0EFE-DA935E78A8B3}"/>
              </a:ext>
            </a:extLst>
          </p:cNvPr>
          <p:cNvSpPr/>
          <p:nvPr/>
        </p:nvSpPr>
        <p:spPr>
          <a:xfrm>
            <a:off x="1191950" y="1125855"/>
            <a:ext cx="150590" cy="150590"/>
          </a:xfrm>
          <a:prstGeom prst="flowChartConnector">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 name="Organigramme : Connecteur 55">
            <a:extLst>
              <a:ext uri="{FF2B5EF4-FFF2-40B4-BE49-F238E27FC236}">
                <a16:creationId xmlns:a16="http://schemas.microsoft.com/office/drawing/2014/main" id="{8FE20762-F592-F5CD-F648-63E9B6F6B298}"/>
              </a:ext>
            </a:extLst>
          </p:cNvPr>
          <p:cNvSpPr/>
          <p:nvPr/>
        </p:nvSpPr>
        <p:spPr>
          <a:xfrm>
            <a:off x="1419851" y="1127253"/>
            <a:ext cx="150590" cy="150590"/>
          </a:xfrm>
          <a:prstGeom prst="flowChartConnector">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7" name="Organigramme : Connecteur 56">
            <a:extLst>
              <a:ext uri="{FF2B5EF4-FFF2-40B4-BE49-F238E27FC236}">
                <a16:creationId xmlns:a16="http://schemas.microsoft.com/office/drawing/2014/main" id="{0027182A-EB0C-8FEE-525D-AE08C6B15CD2}"/>
              </a:ext>
            </a:extLst>
          </p:cNvPr>
          <p:cNvSpPr/>
          <p:nvPr/>
        </p:nvSpPr>
        <p:spPr>
          <a:xfrm>
            <a:off x="1656141" y="1128651"/>
            <a:ext cx="150590" cy="150590"/>
          </a:xfrm>
          <a:prstGeom prst="flowChartConnector">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 name="Organigramme : Connecteur 57">
            <a:extLst>
              <a:ext uri="{FF2B5EF4-FFF2-40B4-BE49-F238E27FC236}">
                <a16:creationId xmlns:a16="http://schemas.microsoft.com/office/drawing/2014/main" id="{4A7F531F-DBB8-F6AB-7A0B-DA3614F714DD}"/>
              </a:ext>
            </a:extLst>
          </p:cNvPr>
          <p:cNvSpPr/>
          <p:nvPr/>
        </p:nvSpPr>
        <p:spPr>
          <a:xfrm>
            <a:off x="1892431" y="1129752"/>
            <a:ext cx="150590" cy="150590"/>
          </a:xfrm>
          <a:prstGeom prst="flowChartConnector">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 name="Organigramme : Connecteur 58">
            <a:extLst>
              <a:ext uri="{FF2B5EF4-FFF2-40B4-BE49-F238E27FC236}">
                <a16:creationId xmlns:a16="http://schemas.microsoft.com/office/drawing/2014/main" id="{B0B2BC3D-DD01-F577-C451-905F41215E23}"/>
              </a:ext>
            </a:extLst>
          </p:cNvPr>
          <p:cNvSpPr/>
          <p:nvPr/>
        </p:nvSpPr>
        <p:spPr>
          <a:xfrm>
            <a:off x="972945" y="1520956"/>
            <a:ext cx="150590" cy="150590"/>
          </a:xfrm>
          <a:prstGeom prst="flowChartConnector">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 name="Organigramme : Connecteur 59">
            <a:extLst>
              <a:ext uri="{FF2B5EF4-FFF2-40B4-BE49-F238E27FC236}">
                <a16:creationId xmlns:a16="http://schemas.microsoft.com/office/drawing/2014/main" id="{92E920A0-CFBB-06CF-4A21-66CEA741EDBD}"/>
              </a:ext>
            </a:extLst>
          </p:cNvPr>
          <p:cNvSpPr/>
          <p:nvPr/>
        </p:nvSpPr>
        <p:spPr>
          <a:xfrm>
            <a:off x="1192457" y="1522354"/>
            <a:ext cx="150590" cy="150590"/>
          </a:xfrm>
          <a:prstGeom prst="flowChartConnector">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 name="Organigramme : Connecteur 60">
            <a:extLst>
              <a:ext uri="{FF2B5EF4-FFF2-40B4-BE49-F238E27FC236}">
                <a16:creationId xmlns:a16="http://schemas.microsoft.com/office/drawing/2014/main" id="{550B4441-1783-E3C2-F1C3-4E70386F9C31}"/>
              </a:ext>
            </a:extLst>
          </p:cNvPr>
          <p:cNvSpPr/>
          <p:nvPr/>
        </p:nvSpPr>
        <p:spPr>
          <a:xfrm>
            <a:off x="1656648" y="1525150"/>
            <a:ext cx="150590" cy="150590"/>
          </a:xfrm>
          <a:prstGeom prst="flowChartConnector">
            <a:avLst/>
          </a:prstGeom>
          <a:no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 name="Organigramme : Connecteur 61">
            <a:extLst>
              <a:ext uri="{FF2B5EF4-FFF2-40B4-BE49-F238E27FC236}">
                <a16:creationId xmlns:a16="http://schemas.microsoft.com/office/drawing/2014/main" id="{8D90A6B4-22AB-F58D-6DE2-658A48EA7DC4}"/>
              </a:ext>
            </a:extLst>
          </p:cNvPr>
          <p:cNvSpPr/>
          <p:nvPr/>
        </p:nvSpPr>
        <p:spPr>
          <a:xfrm>
            <a:off x="1892938" y="1518159"/>
            <a:ext cx="150590" cy="150590"/>
          </a:xfrm>
          <a:prstGeom prst="flowChartConnector">
            <a:avLst/>
          </a:prstGeom>
          <a:no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Organigramme : Connecteur 13">
            <a:extLst>
              <a:ext uri="{FF2B5EF4-FFF2-40B4-BE49-F238E27FC236}">
                <a16:creationId xmlns:a16="http://schemas.microsoft.com/office/drawing/2014/main" id="{EFD69B4C-DFD9-7933-3DA7-1654BEE538C3}"/>
              </a:ext>
            </a:extLst>
          </p:cNvPr>
          <p:cNvSpPr/>
          <p:nvPr/>
        </p:nvSpPr>
        <p:spPr>
          <a:xfrm>
            <a:off x="1426497" y="1528254"/>
            <a:ext cx="150590" cy="150590"/>
          </a:xfrm>
          <a:prstGeom prst="flowChartConnector">
            <a:avLst/>
          </a:prstGeom>
          <a:no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26547848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16"/>
</p:tagLst>
</file>

<file path=ppt/tags/tag2.xml><?xml version="1.0" encoding="utf-8"?>
<p:tagLst xmlns:a="http://schemas.openxmlformats.org/drawingml/2006/main" xmlns:r="http://schemas.openxmlformats.org/officeDocument/2006/relationships" xmlns:p="http://schemas.openxmlformats.org/presentationml/2006/main">
  <p:tag name="NUM" val="11"/>
</p:tagLst>
</file>

<file path=ppt/tags/tag3.xml><?xml version="1.0" encoding="utf-8"?>
<p:tagLst xmlns:a="http://schemas.openxmlformats.org/drawingml/2006/main" xmlns:r="http://schemas.openxmlformats.org/officeDocument/2006/relationships" xmlns:p="http://schemas.openxmlformats.org/presentationml/2006/main">
  <p:tag name="NUM" val="10"/>
</p:tagLst>
</file>

<file path=ppt/tags/tag4.xml><?xml version="1.0" encoding="utf-8"?>
<p:tagLst xmlns:a="http://schemas.openxmlformats.org/drawingml/2006/main" xmlns:r="http://schemas.openxmlformats.org/officeDocument/2006/relationships" xmlns:p="http://schemas.openxmlformats.org/presentationml/2006/main">
  <p:tag name="NUM" val="4"/>
</p:tagLst>
</file>

<file path=ppt/tags/tag5.xml><?xml version="1.0" encoding="utf-8"?>
<p:tagLst xmlns:a="http://schemas.openxmlformats.org/drawingml/2006/main" xmlns:r="http://schemas.openxmlformats.org/officeDocument/2006/relationships" xmlns:p="http://schemas.openxmlformats.org/presentationml/2006/main">
  <p:tag name="NUM" val="10"/>
</p:tagLst>
</file>

<file path=ppt/tags/tag6.xml><?xml version="1.0" encoding="utf-8"?>
<p:tagLst xmlns:a="http://schemas.openxmlformats.org/drawingml/2006/main" xmlns:r="http://schemas.openxmlformats.org/officeDocument/2006/relationships" xmlns:p="http://schemas.openxmlformats.org/presentationml/2006/main">
  <p:tag name="NUM" val="4"/>
</p:tagLst>
</file>

<file path=ppt/tags/tag7.xml><?xml version="1.0" encoding="utf-8"?>
<p:tagLst xmlns:a="http://schemas.openxmlformats.org/drawingml/2006/main" xmlns:r="http://schemas.openxmlformats.org/officeDocument/2006/relationships" xmlns:p="http://schemas.openxmlformats.org/presentationml/2006/main">
  <p:tag name="NUM" val="5"/>
</p:tagLst>
</file>

<file path=ppt/tags/tag8.xml><?xml version="1.0" encoding="utf-8"?>
<p:tagLst xmlns:a="http://schemas.openxmlformats.org/drawingml/2006/main" xmlns:r="http://schemas.openxmlformats.org/officeDocument/2006/relationships" xmlns:p="http://schemas.openxmlformats.org/presentationml/2006/main">
  <p:tag name="NUM" val="35"/>
</p:tagLst>
</file>

<file path=ppt/tags/tag9.xml><?xml version="1.0" encoding="utf-8"?>
<p:tagLst xmlns:a="http://schemas.openxmlformats.org/drawingml/2006/main" xmlns:r="http://schemas.openxmlformats.org/officeDocument/2006/relationships" xmlns:p="http://schemas.openxmlformats.org/presentationml/2006/main">
  <p:tag name="NUM" val="36"/>
</p:tagLst>
</file>

<file path=ppt/tags/tag10.xml><?xml version="1.0" encoding="utf-8"?>
<p:tagLst xmlns:a="http://schemas.openxmlformats.org/drawingml/2006/main" xmlns:r="http://schemas.openxmlformats.org/officeDocument/2006/relationships" xmlns:p="http://schemas.openxmlformats.org/presentationml/2006/main">
  <p:tag name="NUM" val="15"/>
</p:tagLst>
</file>

<file path=ppt/tags/tag11.xml><?xml version="1.0" encoding="utf-8"?>
<p:tagLst xmlns:a="http://schemas.openxmlformats.org/drawingml/2006/main" xmlns:r="http://schemas.openxmlformats.org/officeDocument/2006/relationships" xmlns:p="http://schemas.openxmlformats.org/presentationml/2006/main">
  <p:tag name="NUM" val="4"/>
</p:tagLst>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7198</TotalTime>
  <Words>240</Words>
  <Application>Microsoft Office PowerPoint</Application>
  <PresentationFormat>Grand écran</PresentationFormat>
  <Paragraphs>41</Paragraphs>
  <Slides>2</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vt:i4>
      </vt:variant>
    </vt:vector>
  </HeadingPairs>
  <TitlesOfParts>
    <vt:vector size="6" baseType="lpstr">
      <vt:lpstr>Arial</vt:lpstr>
      <vt:lpstr>Calibri</vt:lpstr>
      <vt:lpstr>Calibri Light</vt:lpstr>
      <vt:lpstr>Thème Office</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costumer 64</dc:creator>
  <cp:lastModifiedBy>Faouz NAKAMBONI</cp:lastModifiedBy>
  <cp:revision>61</cp:revision>
  <dcterms:created xsi:type="dcterms:W3CDTF">2022-10-06T13:16:20Z</dcterms:created>
  <dcterms:modified xsi:type="dcterms:W3CDTF">2025-05-16T09:31:03Z</dcterms:modified>
</cp:coreProperties>
</file>